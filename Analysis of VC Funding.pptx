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1" r:id="rId6"/>
    <p:sldId id="266" r:id="rId7"/>
    <p:sldId id="264" r:id="rId8"/>
    <p:sldId id="265" r:id="rId9"/>
    <p:sldId id="267" r:id="rId10"/>
    <p:sldId id="269" r:id="rId11"/>
    <p:sldId id="268" r:id="rId12"/>
    <p:sldId id="260" r:id="rId13"/>
    <p:sldId id="263"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89" d="100"/>
          <a:sy n="89" d="100"/>
        </p:scale>
        <p:origin x="41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C74CE7D-D495-45A7-AC42-EF972E9D929E}" type="datetimeFigureOut">
              <a:rPr lang="en-IN" smtClean="0"/>
              <a:t>27-02-2026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B9CB70-6C9D-4FFA-9ABD-D398E9B112FC}" type="slidenum">
              <a:rPr lang="en-IN" smtClean="0"/>
              <a:t>‹#›</a:t>
            </a:fld>
            <a:endParaRPr lang="en-IN"/>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918627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74CE7D-D495-45A7-AC42-EF972E9D929E}" type="datetimeFigureOut">
              <a:rPr lang="en-IN" smtClean="0"/>
              <a:t>27-02-2026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B9CB70-6C9D-4FFA-9ABD-D398E9B112FC}" type="slidenum">
              <a:rPr lang="en-IN" smtClean="0"/>
              <a:t>‹#›</a:t>
            </a:fld>
            <a:endParaRPr lang="en-IN"/>
          </a:p>
        </p:txBody>
      </p:sp>
    </p:spTree>
    <p:extLst>
      <p:ext uri="{BB962C8B-B14F-4D97-AF65-F5344CB8AC3E}">
        <p14:creationId xmlns:p14="http://schemas.microsoft.com/office/powerpoint/2010/main" val="6710479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C74CE7D-D495-45A7-AC42-EF972E9D929E}" type="datetimeFigureOut">
              <a:rPr lang="en-IN" smtClean="0"/>
              <a:t>27-02-2026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B9CB70-6C9D-4FFA-9ABD-D398E9B112FC}" type="slidenum">
              <a:rPr lang="en-IN" smtClean="0"/>
              <a:t>‹#›</a:t>
            </a:fld>
            <a:endParaRPr lang="en-IN"/>
          </a:p>
        </p:txBody>
      </p:sp>
    </p:spTree>
    <p:extLst>
      <p:ext uri="{BB962C8B-B14F-4D97-AF65-F5344CB8AC3E}">
        <p14:creationId xmlns:p14="http://schemas.microsoft.com/office/powerpoint/2010/main" val="3695879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C74CE7D-D495-45A7-AC42-EF972E9D929E}" type="datetimeFigureOut">
              <a:rPr lang="en-IN" smtClean="0"/>
              <a:t>27-02-2026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3B9CB70-6C9D-4FFA-9ABD-D398E9B112FC}" type="slidenum">
              <a:rPr lang="en-IN" smtClean="0"/>
              <a:t>‹#›</a:t>
            </a:fld>
            <a:endParaRPr lang="en-IN"/>
          </a:p>
        </p:txBody>
      </p:sp>
    </p:spTree>
    <p:extLst>
      <p:ext uri="{BB962C8B-B14F-4D97-AF65-F5344CB8AC3E}">
        <p14:creationId xmlns:p14="http://schemas.microsoft.com/office/powerpoint/2010/main" val="40745383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C74CE7D-D495-45A7-AC42-EF972E9D929E}" type="datetimeFigureOut">
              <a:rPr lang="en-IN" smtClean="0"/>
              <a:t>27-02-2026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3B9CB70-6C9D-4FFA-9ABD-D398E9B112FC}" type="slidenum">
              <a:rPr lang="en-IN" smtClean="0"/>
              <a:t>‹#›</a:t>
            </a:fld>
            <a:endParaRPr lang="en-IN"/>
          </a:p>
        </p:txBody>
      </p:sp>
    </p:spTree>
    <p:extLst>
      <p:ext uri="{BB962C8B-B14F-4D97-AF65-F5344CB8AC3E}">
        <p14:creationId xmlns:p14="http://schemas.microsoft.com/office/powerpoint/2010/main" val="32950031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C74CE7D-D495-45A7-AC42-EF972E9D929E}" type="datetimeFigureOut">
              <a:rPr lang="en-IN" smtClean="0"/>
              <a:t>27-02-2026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3B9CB70-6C9D-4FFA-9ABD-D398E9B112FC}" type="slidenum">
              <a:rPr lang="en-IN" smtClean="0"/>
              <a:t>‹#›</a:t>
            </a:fld>
            <a:endParaRPr lang="en-IN"/>
          </a:p>
        </p:txBody>
      </p:sp>
    </p:spTree>
    <p:extLst>
      <p:ext uri="{BB962C8B-B14F-4D97-AF65-F5344CB8AC3E}">
        <p14:creationId xmlns:p14="http://schemas.microsoft.com/office/powerpoint/2010/main" val="3705653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74CE7D-D495-45A7-AC42-EF972E9D929E}" type="datetimeFigureOut">
              <a:rPr lang="en-IN" smtClean="0"/>
              <a:t>27-02-2026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3B9CB70-6C9D-4FFA-9ABD-D398E9B112FC}" type="slidenum">
              <a:rPr lang="en-IN" smtClean="0"/>
              <a:t>‹#›</a:t>
            </a:fld>
            <a:endParaRPr lang="en-IN"/>
          </a:p>
        </p:txBody>
      </p:sp>
    </p:spTree>
    <p:extLst>
      <p:ext uri="{BB962C8B-B14F-4D97-AF65-F5344CB8AC3E}">
        <p14:creationId xmlns:p14="http://schemas.microsoft.com/office/powerpoint/2010/main" val="888895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AC74CE7D-D495-45A7-AC42-EF972E9D929E}" type="datetimeFigureOut">
              <a:rPr lang="en-IN" smtClean="0"/>
              <a:t>27-02-2026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3B9CB70-6C9D-4FFA-9ABD-D398E9B112FC}" type="slidenum">
              <a:rPr lang="en-IN" smtClean="0"/>
              <a:t>‹#›</a:t>
            </a:fld>
            <a:endParaRPr lang="en-IN"/>
          </a:p>
        </p:txBody>
      </p:sp>
    </p:spTree>
    <p:extLst>
      <p:ext uri="{BB962C8B-B14F-4D97-AF65-F5344CB8AC3E}">
        <p14:creationId xmlns:p14="http://schemas.microsoft.com/office/powerpoint/2010/main" val="23886862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AC74CE7D-D495-45A7-AC42-EF972E9D929E}" type="datetimeFigureOut">
              <a:rPr lang="en-IN" smtClean="0"/>
              <a:t>27-02-2026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3B9CB70-6C9D-4FFA-9ABD-D398E9B112FC}" type="slidenum">
              <a:rPr lang="en-IN" smtClean="0"/>
              <a:t>‹#›</a:t>
            </a:fld>
            <a:endParaRPr lang="en-IN"/>
          </a:p>
        </p:txBody>
      </p:sp>
    </p:spTree>
    <p:extLst>
      <p:ext uri="{BB962C8B-B14F-4D97-AF65-F5344CB8AC3E}">
        <p14:creationId xmlns:p14="http://schemas.microsoft.com/office/powerpoint/2010/main" val="3522109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Date Placeholder 2"/>
          <p:cNvSpPr>
            <a:spLocks noGrp="1"/>
          </p:cNvSpPr>
          <p:nvPr>
            <p:ph type="dt" sz="half" idx="10"/>
          </p:nvPr>
        </p:nvSpPr>
        <p:spPr/>
        <p:txBody>
          <a:bodyPr/>
          <a:lstStyle/>
          <a:p>
            <a:fld id="{AC74CE7D-D495-45A7-AC42-EF972E9D929E}" type="datetimeFigureOut">
              <a:rPr lang="en-IN" smtClean="0"/>
              <a:t>27-02-2026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3B9CB70-6C9D-4FFA-9ABD-D398E9B112FC}" type="slidenum">
              <a:rPr lang="en-IN" smtClean="0"/>
              <a:t>‹#›</a:t>
            </a:fld>
            <a:endParaRPr lang="en-IN"/>
          </a:p>
        </p:txBody>
      </p:sp>
    </p:spTree>
    <p:extLst>
      <p:ext uri="{BB962C8B-B14F-4D97-AF65-F5344CB8AC3E}">
        <p14:creationId xmlns:p14="http://schemas.microsoft.com/office/powerpoint/2010/main" val="38936958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C74CE7D-D495-45A7-AC42-EF972E9D929E}" type="datetimeFigureOut">
              <a:rPr lang="en-IN" smtClean="0"/>
              <a:t>27-02-2026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B9CB70-6C9D-4FFA-9ABD-D398E9B112FC}" type="slidenum">
              <a:rPr lang="en-IN" smtClean="0"/>
              <a:t>‹#›</a:t>
            </a:fld>
            <a:endParaRPr lang="en-IN"/>
          </a:p>
        </p:txBody>
      </p:sp>
    </p:spTree>
    <p:extLst>
      <p:ext uri="{BB962C8B-B14F-4D97-AF65-F5344CB8AC3E}">
        <p14:creationId xmlns:p14="http://schemas.microsoft.com/office/powerpoint/2010/main" val="19350741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C74CE7D-D495-45A7-AC42-EF972E9D929E}" type="datetimeFigureOut">
              <a:rPr lang="en-IN" smtClean="0"/>
              <a:t>27-02-2026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B9CB70-6C9D-4FFA-9ABD-D398E9B112FC}" type="slidenum">
              <a:rPr lang="en-IN" smtClean="0"/>
              <a:t>‹#›</a:t>
            </a:fld>
            <a:endParaRPr lang="en-IN"/>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5578743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C74CE7D-D495-45A7-AC42-EF972E9D929E}" type="datetimeFigureOut">
              <a:rPr lang="en-IN" smtClean="0"/>
              <a:t>27-02-2026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B9CB70-6C9D-4FFA-9ABD-D398E9B112FC}" type="slidenum">
              <a:rPr lang="en-IN" smtClean="0"/>
              <a:t>‹#›</a:t>
            </a:fld>
            <a:endParaRPr lang="en-IN"/>
          </a:p>
        </p:txBody>
      </p:sp>
    </p:spTree>
    <p:extLst>
      <p:ext uri="{BB962C8B-B14F-4D97-AF65-F5344CB8AC3E}">
        <p14:creationId xmlns:p14="http://schemas.microsoft.com/office/powerpoint/2010/main" val="41821177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C74CE7D-D495-45A7-AC42-EF972E9D929E}" type="datetimeFigureOut">
              <a:rPr lang="en-IN" smtClean="0"/>
              <a:t>27-02-2026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B9CB70-6C9D-4FFA-9ABD-D398E9B112FC}" type="slidenum">
              <a:rPr lang="en-IN" smtClean="0"/>
              <a:t>‹#›</a:t>
            </a:fld>
            <a:endParaRPr lang="en-IN"/>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3362046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C74CE7D-D495-45A7-AC42-EF972E9D929E}" type="datetimeFigureOut">
              <a:rPr lang="en-IN" smtClean="0"/>
              <a:t>27-02-2026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B9CB70-6C9D-4FFA-9ABD-D398E9B112FC}" type="slidenum">
              <a:rPr lang="en-IN" smtClean="0"/>
              <a:t>‹#›</a:t>
            </a:fld>
            <a:endParaRPr lang="en-IN"/>
          </a:p>
        </p:txBody>
      </p:sp>
    </p:spTree>
    <p:extLst>
      <p:ext uri="{BB962C8B-B14F-4D97-AF65-F5344CB8AC3E}">
        <p14:creationId xmlns:p14="http://schemas.microsoft.com/office/powerpoint/2010/main" val="719969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74CE7D-D495-45A7-AC42-EF972E9D929E}" type="datetimeFigureOut">
              <a:rPr lang="en-IN" smtClean="0"/>
              <a:t>27-02-2026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B9CB70-6C9D-4FFA-9ABD-D398E9B112FC}" type="slidenum">
              <a:rPr lang="en-IN" smtClean="0"/>
              <a:t>‹#›</a:t>
            </a:fld>
            <a:endParaRPr lang="en-IN"/>
          </a:p>
        </p:txBody>
      </p:sp>
    </p:spTree>
    <p:extLst>
      <p:ext uri="{BB962C8B-B14F-4D97-AF65-F5344CB8AC3E}">
        <p14:creationId xmlns:p14="http://schemas.microsoft.com/office/powerpoint/2010/main" val="8878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74CE7D-D495-45A7-AC42-EF972E9D929E}" type="datetimeFigureOut">
              <a:rPr lang="en-IN" smtClean="0"/>
              <a:t>27-02-2026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B9CB70-6C9D-4FFA-9ABD-D398E9B112FC}" type="slidenum">
              <a:rPr lang="en-IN" smtClean="0"/>
              <a:t>‹#›</a:t>
            </a:fld>
            <a:endParaRPr lang="en-IN"/>
          </a:p>
        </p:txBody>
      </p:sp>
    </p:spTree>
    <p:extLst>
      <p:ext uri="{BB962C8B-B14F-4D97-AF65-F5344CB8AC3E}">
        <p14:creationId xmlns:p14="http://schemas.microsoft.com/office/powerpoint/2010/main" val="42702668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AC74CE7D-D495-45A7-AC42-EF972E9D929E}" type="datetimeFigureOut">
              <a:rPr lang="en-IN" smtClean="0"/>
              <a:t>27-02-2026</a:t>
            </a:fld>
            <a:endParaRPr lang="en-IN"/>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IN"/>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73B9CB70-6C9D-4FFA-9ABD-D398E9B112FC}" type="slidenum">
              <a:rPr lang="en-IN" smtClean="0"/>
              <a:t>‹#›</a:t>
            </a:fld>
            <a:endParaRPr lang="en-IN"/>
          </a:p>
        </p:txBody>
      </p:sp>
    </p:spTree>
    <p:extLst>
      <p:ext uri="{BB962C8B-B14F-4D97-AF65-F5344CB8AC3E}">
        <p14:creationId xmlns:p14="http://schemas.microsoft.com/office/powerpoint/2010/main" val="332349304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3.jpeg"/><Relationship Id="rId7" Type="http://schemas.openxmlformats.org/officeDocument/2006/relationships/image" Target="../media/image7.jpeg"/><Relationship Id="rId2" Type="http://schemas.openxmlformats.org/officeDocument/2006/relationships/image" Target="../media/image2.png"/><Relationship Id="rId1" Type="http://schemas.openxmlformats.org/officeDocument/2006/relationships/slideLayout" Target="../slideLayouts/slideLayout9.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3.png"/><Relationship Id="rId1" Type="http://schemas.openxmlformats.org/officeDocument/2006/relationships/slideLayout" Target="../slideLayouts/slideLayout6.xml"/><Relationship Id="rId5" Type="http://schemas.openxmlformats.org/officeDocument/2006/relationships/image" Target="../media/image15.jpeg"/><Relationship Id="rId4" Type="http://schemas.openxmlformats.org/officeDocument/2006/relationships/image" Target="../media/image14.jpeg"/></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8.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Analysis of VC Funding</a:t>
            </a:r>
            <a:endParaRPr lang="en-IN" dirty="0"/>
          </a:p>
        </p:txBody>
      </p:sp>
      <p:sp>
        <p:nvSpPr>
          <p:cNvPr id="3" name="Subtitle 2"/>
          <p:cNvSpPr>
            <a:spLocks noGrp="1"/>
          </p:cNvSpPr>
          <p:nvPr>
            <p:ph type="subTitle" idx="1"/>
          </p:nvPr>
        </p:nvSpPr>
        <p:spPr/>
        <p:txBody>
          <a:bodyPr/>
          <a:lstStyle/>
          <a:p>
            <a:r>
              <a:rPr lang="en-US" dirty="0"/>
              <a:t>Shouham B Banerjee</a:t>
            </a:r>
          </a:p>
          <a:p>
            <a:r>
              <a:rPr lang="en-US" dirty="0"/>
              <a:t>21CH10062</a:t>
            </a:r>
          </a:p>
          <a:p>
            <a:r>
              <a:rPr lang="en-US" dirty="0"/>
              <a:t>Mentor:- Prof. </a:t>
            </a:r>
            <a:r>
              <a:rPr lang="en-US" dirty="0" err="1"/>
              <a:t>Prabha</a:t>
            </a:r>
            <a:r>
              <a:rPr lang="en-US" dirty="0"/>
              <a:t> </a:t>
            </a:r>
            <a:r>
              <a:rPr lang="en-US" dirty="0" err="1"/>
              <a:t>Bhola</a:t>
            </a:r>
            <a:r>
              <a:rPr lang="en-US" dirty="0"/>
              <a:t> (</a:t>
            </a:r>
            <a:r>
              <a:rPr lang="en-US" dirty="0" err="1"/>
              <a:t>RMSoEE</a:t>
            </a:r>
            <a:r>
              <a:rPr lang="en-US" dirty="0"/>
              <a:t>)</a:t>
            </a:r>
            <a:endParaRPr lang="en-IN" dirty="0"/>
          </a:p>
        </p:txBody>
      </p:sp>
      <p:pic>
        <p:nvPicPr>
          <p:cNvPr id="4" name="Picture 3" descr="IITKGP Foundation">
            <a:extLst>
              <a:ext uri="{FF2B5EF4-FFF2-40B4-BE49-F238E27FC236}">
                <a16:creationId xmlns:a16="http://schemas.microsoft.com/office/drawing/2014/main" id="{149C318F-2D4E-48E1-A7E2-0062FDD7C5CD}"/>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9631390" y="4137227"/>
            <a:ext cx="2560610" cy="2720773"/>
          </a:xfrm>
          <a:prstGeom prst="rect">
            <a:avLst/>
          </a:prstGeom>
          <a:noFill/>
          <a:ln>
            <a:noFill/>
          </a:ln>
        </p:spPr>
      </p:pic>
    </p:spTree>
    <p:extLst>
      <p:ext uri="{BB962C8B-B14F-4D97-AF65-F5344CB8AC3E}">
        <p14:creationId xmlns:p14="http://schemas.microsoft.com/office/powerpoint/2010/main" val="3459656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21883" y="0"/>
            <a:ext cx="6019800" cy="576649"/>
          </a:xfrm>
        </p:spPr>
        <p:txBody>
          <a:bodyPr/>
          <a:lstStyle/>
          <a:p>
            <a:pPr algn="ctr"/>
            <a:r>
              <a:rPr lang="en-US" b="1" dirty="0">
                <a:latin typeface="Times New Roman" panose="02020603050405020304" pitchFamily="18" charset="0"/>
                <a:cs typeface="Times New Roman" panose="02020603050405020304" pitchFamily="18" charset="0"/>
              </a:rPr>
              <a:t>Venture Capital</a:t>
            </a:r>
            <a:endParaRPr lang="en-IN" b="1"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sz="half" idx="2"/>
          </p:nvPr>
        </p:nvSpPr>
        <p:spPr>
          <a:xfrm>
            <a:off x="5052324" y="585801"/>
            <a:ext cx="7032583" cy="2075021"/>
          </a:xfrm>
        </p:spPr>
        <p:txBody>
          <a:bodyPr>
            <a:normAutofit/>
          </a:bodyPr>
          <a:lstStyle/>
          <a:p>
            <a:r>
              <a:rPr lang="en-US" sz="2000" b="1" dirty="0">
                <a:solidFill>
                  <a:schemeClr val="tx1"/>
                </a:solidFill>
                <a:latin typeface="Times New Roman" panose="02020603050405020304" pitchFamily="18" charset="0"/>
                <a:cs typeface="Times New Roman" panose="02020603050405020304" pitchFamily="18" charset="0"/>
              </a:rPr>
              <a:t>Venture capital (VC)</a:t>
            </a:r>
            <a:r>
              <a:rPr lang="en-US" sz="2000" dirty="0">
                <a:solidFill>
                  <a:schemeClr val="tx1"/>
                </a:solidFill>
                <a:latin typeface="Times New Roman" panose="02020603050405020304" pitchFamily="18" charset="0"/>
                <a:cs typeface="Times New Roman" panose="02020603050405020304" pitchFamily="18" charset="0"/>
              </a:rPr>
              <a:t> is a form of private equity financing provided by investors to startups and early-stage companies that have high growth potential but also involve significant risk. It is typically used to fund innovative or emerging businesses that lack access to traditional sources of capital like bank loans due to limited operating history or lack of tangible assets.</a:t>
            </a:r>
            <a:endParaRPr lang="en-IN" sz="2000" dirty="0">
              <a:solidFill>
                <a:schemeClr val="tx1"/>
              </a:solidFill>
              <a:latin typeface="Times New Roman" panose="02020603050405020304" pitchFamily="18" charset="0"/>
              <a:cs typeface="Times New Roman" panose="02020603050405020304" pitchFamily="18" charset="0"/>
            </a:endParaRPr>
          </a:p>
        </p:txBody>
      </p:sp>
      <p:sp>
        <p:nvSpPr>
          <p:cNvPr id="5" name="TextBox 4"/>
          <p:cNvSpPr txBox="1"/>
          <p:nvPr/>
        </p:nvSpPr>
        <p:spPr>
          <a:xfrm>
            <a:off x="4720281" y="2734962"/>
            <a:ext cx="7364626" cy="3970318"/>
          </a:xfrm>
          <a:prstGeom prst="rect">
            <a:avLst/>
          </a:prstGeom>
          <a:noFill/>
        </p:spPr>
        <p:txBody>
          <a:bodyPr wrap="square" rtlCol="0">
            <a:spAutoFit/>
          </a:bodyPr>
          <a:lstStyle/>
          <a:p>
            <a:r>
              <a:rPr lang="en-US" sz="1400" b="1" dirty="0">
                <a:latin typeface="Times New Roman" panose="02020603050405020304" pitchFamily="18" charset="0"/>
                <a:cs typeface="Times New Roman" panose="02020603050405020304" pitchFamily="18" charset="0"/>
              </a:rPr>
              <a:t>Key Characteristics of Venture Capital</a:t>
            </a:r>
          </a:p>
          <a:p>
            <a:r>
              <a:rPr lang="en-US" sz="1400" b="1" dirty="0">
                <a:latin typeface="Times New Roman" panose="02020603050405020304" pitchFamily="18" charset="0"/>
                <a:cs typeface="Times New Roman" panose="02020603050405020304" pitchFamily="18" charset="0"/>
              </a:rPr>
              <a:t>High-Risk, High-Reward:</a:t>
            </a:r>
            <a:endParaRPr lang="en-US" sz="1400" dirty="0">
              <a:latin typeface="Times New Roman" panose="02020603050405020304" pitchFamily="18" charset="0"/>
              <a:cs typeface="Times New Roman" panose="02020603050405020304" pitchFamily="18" charset="0"/>
            </a:endParaRPr>
          </a:p>
          <a:p>
            <a:pPr lvl="1"/>
            <a:r>
              <a:rPr lang="en-US" sz="1400" dirty="0">
                <a:latin typeface="Times New Roman" panose="02020603050405020304" pitchFamily="18" charset="0"/>
                <a:cs typeface="Times New Roman" panose="02020603050405020304" pitchFamily="18" charset="0"/>
              </a:rPr>
              <a:t>VC investments are inherently risky, as startups often operate in unproven markets or with untested products.</a:t>
            </a:r>
          </a:p>
          <a:p>
            <a:pPr lvl="1"/>
            <a:r>
              <a:rPr lang="en-US" sz="1400" dirty="0">
                <a:latin typeface="Times New Roman" panose="02020603050405020304" pitchFamily="18" charset="0"/>
                <a:cs typeface="Times New Roman" panose="02020603050405020304" pitchFamily="18" charset="0"/>
              </a:rPr>
              <a:t>However, successful investments can yield substantial returns.</a:t>
            </a:r>
          </a:p>
          <a:p>
            <a:r>
              <a:rPr lang="en-US" sz="1400" b="1" dirty="0">
                <a:latin typeface="Times New Roman" panose="02020603050405020304" pitchFamily="18" charset="0"/>
                <a:cs typeface="Times New Roman" panose="02020603050405020304" pitchFamily="18" charset="0"/>
              </a:rPr>
              <a:t>Equity-Based Financing:</a:t>
            </a:r>
            <a:endParaRPr lang="en-US" sz="1400" dirty="0">
              <a:latin typeface="Times New Roman" panose="02020603050405020304" pitchFamily="18" charset="0"/>
              <a:cs typeface="Times New Roman" panose="02020603050405020304" pitchFamily="18" charset="0"/>
            </a:endParaRPr>
          </a:p>
          <a:p>
            <a:pPr lvl="1"/>
            <a:r>
              <a:rPr lang="en-US" sz="1400" dirty="0">
                <a:latin typeface="Times New Roman" panose="02020603050405020304" pitchFamily="18" charset="0"/>
                <a:cs typeface="Times New Roman" panose="02020603050405020304" pitchFamily="18" charset="0"/>
              </a:rPr>
              <a:t>Venture capitalists usually provide funding in exchange for an equity stake in the company, giving them partial ownership.</a:t>
            </a:r>
          </a:p>
          <a:p>
            <a:r>
              <a:rPr lang="en-US" sz="1400" b="1" dirty="0">
                <a:latin typeface="Times New Roman" panose="02020603050405020304" pitchFamily="18" charset="0"/>
                <a:cs typeface="Times New Roman" panose="02020603050405020304" pitchFamily="18" charset="0"/>
              </a:rPr>
              <a:t>Active Involvement:</a:t>
            </a:r>
            <a:endParaRPr lang="en-US" sz="1400" dirty="0">
              <a:latin typeface="Times New Roman" panose="02020603050405020304" pitchFamily="18" charset="0"/>
              <a:cs typeface="Times New Roman" panose="02020603050405020304" pitchFamily="18" charset="0"/>
            </a:endParaRPr>
          </a:p>
          <a:p>
            <a:pPr lvl="1"/>
            <a:r>
              <a:rPr lang="en-US" sz="1400" dirty="0">
                <a:latin typeface="Times New Roman" panose="02020603050405020304" pitchFamily="18" charset="0"/>
                <a:cs typeface="Times New Roman" panose="02020603050405020304" pitchFamily="18" charset="0"/>
              </a:rPr>
              <a:t>Beyond funding, VCs often provide strategic guidance, mentorship, and access to their network to help the business grow.</a:t>
            </a:r>
          </a:p>
          <a:p>
            <a:r>
              <a:rPr lang="en-US" sz="1400" b="1" dirty="0">
                <a:latin typeface="Times New Roman" panose="02020603050405020304" pitchFamily="18" charset="0"/>
                <a:cs typeface="Times New Roman" panose="02020603050405020304" pitchFamily="18" charset="0"/>
              </a:rPr>
              <a:t>Stages of Investment:</a:t>
            </a:r>
            <a:endParaRPr lang="en-US" sz="1400" dirty="0">
              <a:latin typeface="Times New Roman" panose="02020603050405020304" pitchFamily="18" charset="0"/>
              <a:cs typeface="Times New Roman" panose="02020603050405020304" pitchFamily="18" charset="0"/>
            </a:endParaRPr>
          </a:p>
          <a:p>
            <a:pPr lvl="1"/>
            <a:r>
              <a:rPr lang="en-US" sz="1400" dirty="0">
                <a:latin typeface="Times New Roman" panose="02020603050405020304" pitchFamily="18" charset="0"/>
                <a:cs typeface="Times New Roman" panose="02020603050405020304" pitchFamily="18" charset="0"/>
              </a:rPr>
              <a:t>VC funding typically occurs in multiple stages, aligning with the growth of the company (e.g., seed funding, Series A, B, C, etc.).</a:t>
            </a:r>
          </a:p>
          <a:p>
            <a:r>
              <a:rPr lang="en-US" sz="1400" b="1" dirty="0">
                <a:latin typeface="Times New Roman" panose="02020603050405020304" pitchFamily="18" charset="0"/>
                <a:cs typeface="Times New Roman" panose="02020603050405020304" pitchFamily="18" charset="0"/>
              </a:rPr>
              <a:t>Exit-Oriented:</a:t>
            </a:r>
            <a:endParaRPr lang="en-US" sz="1400" dirty="0">
              <a:latin typeface="Times New Roman" panose="02020603050405020304" pitchFamily="18" charset="0"/>
              <a:cs typeface="Times New Roman" panose="02020603050405020304" pitchFamily="18" charset="0"/>
            </a:endParaRPr>
          </a:p>
          <a:p>
            <a:pPr lvl="1"/>
            <a:r>
              <a:rPr lang="en-US" sz="1400" dirty="0">
                <a:latin typeface="Times New Roman" panose="02020603050405020304" pitchFamily="18" charset="0"/>
                <a:cs typeface="Times New Roman" panose="02020603050405020304" pitchFamily="18" charset="0"/>
              </a:rPr>
              <a:t>Venture capitalists aim to exit their investments through events like Initial Public Offerings (IPOs) or acquisitions, where they can realize significant returns.</a:t>
            </a:r>
          </a:p>
          <a:p>
            <a:endParaRPr lang="en-IN" sz="1400" dirty="0">
              <a:latin typeface="Times New Roman" panose="02020603050405020304" pitchFamily="18" charset="0"/>
              <a:cs typeface="Times New Roman" panose="02020603050405020304" pitchFamily="18" charset="0"/>
            </a:endParaRPr>
          </a:p>
        </p:txBody>
      </p:sp>
      <p:pic>
        <p:nvPicPr>
          <p:cNvPr id="1036" name="Picture 12" descr="Elevation Capital - Current Opening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4778" y="2697470"/>
            <a:ext cx="3290841" cy="708993"/>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IvyCap - Privacy Policy"/>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569" y="3541073"/>
            <a:ext cx="2154106" cy="610109"/>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descr="Blume's Discovery Portfolio - Blume Venture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545492" y="5514913"/>
            <a:ext cx="2174789" cy="1223319"/>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descr="3one4 Capital - Crunchbase Investor Profile &amp; Investments"/>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32728" y="4281679"/>
            <a:ext cx="2243215" cy="1253210"/>
          </a:xfrm>
          <a:prstGeom prst="rect">
            <a:avLst/>
          </a:prstGeom>
          <a:noFill/>
          <a:extLst>
            <a:ext uri="{909E8E84-426E-40DD-AFC4-6F175D3DCCD1}">
              <a14:hiddenFill xmlns:a14="http://schemas.microsoft.com/office/drawing/2010/main">
                <a:solidFill>
                  <a:srgbClr val="FFFFFF"/>
                </a:solidFill>
              </a14:hiddenFill>
            </a:ext>
          </a:extLst>
        </p:spPr>
      </p:pic>
      <p:pic>
        <p:nvPicPr>
          <p:cNvPr id="1056" name="Picture 32" descr="Kalaari Capital | LinkedIn"/>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10823" y="3579867"/>
            <a:ext cx="1816912" cy="1816912"/>
          </a:xfrm>
          <a:prstGeom prst="rect">
            <a:avLst/>
          </a:prstGeom>
          <a:noFill/>
          <a:extLst>
            <a:ext uri="{909E8E84-426E-40DD-AFC4-6F175D3DCCD1}">
              <a14:hiddenFill xmlns:a14="http://schemas.microsoft.com/office/drawing/2010/main">
                <a:solidFill>
                  <a:srgbClr val="FFFFFF"/>
                </a:solidFill>
              </a14:hiddenFill>
            </a:ext>
          </a:extLst>
        </p:spPr>
      </p:pic>
      <p:pic>
        <p:nvPicPr>
          <p:cNvPr id="1060" name="Picture 36" descr="Accel launches 'Decoding Marketplaces'"/>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69045" y="5657149"/>
            <a:ext cx="2084152" cy="1090706"/>
          </a:xfrm>
          <a:prstGeom prst="rect">
            <a:avLst/>
          </a:prstGeom>
          <a:noFill/>
          <a:extLst>
            <a:ext uri="{909E8E84-426E-40DD-AFC4-6F175D3DCCD1}">
              <a14:hiddenFill xmlns:a14="http://schemas.microsoft.com/office/drawing/2010/main">
                <a:solidFill>
                  <a:srgbClr val="FFFFFF"/>
                </a:solidFill>
              </a14:hiddenFill>
            </a:ext>
          </a:extLst>
        </p:spPr>
      </p:pic>
      <p:pic>
        <p:nvPicPr>
          <p:cNvPr id="1066" name="Picture 42" descr="https://media.licdn.com/dms/image/v2/D5612AQF9lml9r-WsIw/article-cover_image-shrink_720_1280/article-cover_image-shrink_720_1280/0/1711445009067?e=1738195200&amp;v=beta&amp;t=fdhcmKZGznss9FdkaogzbwKAuXmILXVzRx_DmV1ci0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5857" y="60880"/>
            <a:ext cx="4524424" cy="25449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44880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5046" y="-27005"/>
            <a:ext cx="8534400" cy="743695"/>
          </a:xfrm>
        </p:spPr>
        <p:txBody>
          <a:bodyPr>
            <a:normAutofit/>
          </a:bodyPr>
          <a:lstStyle/>
          <a:p>
            <a:pPr algn="ctr"/>
            <a:r>
              <a:rPr lang="en-US" b="1" dirty="0">
                <a:latin typeface="Times New Roman" panose="02020603050405020304" pitchFamily="18" charset="0"/>
                <a:cs typeface="Times New Roman" panose="02020603050405020304" pitchFamily="18" charset="0"/>
              </a:rPr>
              <a:t>Significance of the project</a:t>
            </a:r>
            <a:endParaRPr lang="en-IN" b="1" dirty="0">
              <a:latin typeface="Times New Roman" panose="02020603050405020304" pitchFamily="18" charset="0"/>
              <a:cs typeface="Times New Roman" panose="02020603050405020304" pitchFamily="18" charset="0"/>
            </a:endParaRPr>
          </a:p>
        </p:txBody>
      </p:sp>
      <p:pic>
        <p:nvPicPr>
          <p:cNvPr id="2050" name="Picture 2" descr="Venture capitals cautious on AI: Startups must show clear value, returns |  Finance News - Business Standar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47006" y="3570689"/>
            <a:ext cx="4602885" cy="259121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362465" y="700217"/>
            <a:ext cx="7084541" cy="6709529"/>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Indian startup ecosystem faced challenges in 2023 with funding winter intensifying, leading to venture closures. Deal volume and size declined, mega rounds dropped by 70%, and unicorns decreased. Tech startups saw a decline while focus shifted to traditional sectors.</a:t>
            </a:r>
          </a:p>
          <a:p>
            <a:endParaRPr lang="en-US"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In terms of deal flow shifts, the number of mega rounds plummeted by almost 70%, from 48 to 15 over 2022–23. Also, the emergence of unicorns experienced substantial declines reaching pre-2019 levels</a:t>
            </a:r>
          </a:p>
          <a:p>
            <a:pPr marL="1200150" lvl="2" indent="-285750">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Over 20,000 employees were sacked by leading startups with </a:t>
            </a:r>
            <a:r>
              <a:rPr lang="en-US" sz="1400" dirty="0" err="1">
                <a:latin typeface="Times New Roman" panose="02020603050405020304" pitchFamily="18" charset="0"/>
                <a:cs typeface="Times New Roman" panose="02020603050405020304" pitchFamily="18" charset="0"/>
              </a:rPr>
              <a:t>edtech</a:t>
            </a:r>
            <a:r>
              <a:rPr lang="en-US" sz="1400" dirty="0">
                <a:latin typeface="Times New Roman" panose="02020603050405020304" pitchFamily="18" charset="0"/>
                <a:cs typeface="Times New Roman" panose="02020603050405020304" pitchFamily="18" charset="0"/>
              </a:rPr>
              <a:t> contributing the largest share.</a:t>
            </a:r>
          </a:p>
          <a:p>
            <a:pPr marL="1200150" lvl="2" indent="-285750">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In India, Tech Startups witnessed a significant decline in 2023 as the deal flow to consumer tech, </a:t>
            </a:r>
            <a:r>
              <a:rPr lang="en-US" sz="1400" dirty="0" err="1">
                <a:latin typeface="Times New Roman" panose="02020603050405020304" pitchFamily="18" charset="0"/>
                <a:cs typeface="Times New Roman" panose="02020603050405020304" pitchFamily="18" charset="0"/>
              </a:rPr>
              <a:t>fintech</a:t>
            </a:r>
            <a:r>
              <a:rPr lang="en-US" sz="1400" dirty="0">
                <a:latin typeface="Times New Roman" panose="02020603050405020304" pitchFamily="18" charset="0"/>
                <a:cs typeface="Times New Roman" panose="02020603050405020304" pitchFamily="18" charset="0"/>
              </a:rPr>
              <a:t>, software, and SaaS decreased from $18 billion to $5.6 billion over 2022-23.</a:t>
            </a:r>
          </a:p>
          <a:p>
            <a:pPr marL="1200150" lvl="2" indent="-285750">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There is also a decline in high-value fundraisers, that is, $200 million decreased from 10 to 4 over 2022-23, while the largest fundraiser in 2023 was $700 million (Nexus Venture Fund VII) as compared to $2 billion in 2022.</a:t>
            </a:r>
          </a:p>
          <a:p>
            <a:pPr marL="1200150" lvl="2" indent="-285750">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Karnataka Tech startup ecosystem saw a total funding of $3.4 billion in 2023, which is a 72% plunge from the $12.2 billion raised in 2022.</a:t>
            </a:r>
          </a:p>
          <a:p>
            <a:pPr marL="1200150" lvl="2" indent="-285750">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The deal volume compressed by approximately 45%, falling from 1,611 deals to 880 over 2022–23; average deal value decreased by about 30%, from $16 million to $11 million over 2022–23, while the share of seed deals rising from approximately 60% to 70% during the same period.</a:t>
            </a:r>
          </a:p>
          <a:p>
            <a:pPr marL="1200150" lvl="2" indent="-285750">
              <a:buFont typeface="Wingdings" panose="05000000000000000000" pitchFamily="2" charset="2"/>
              <a:buChar char="Ø"/>
            </a:pPr>
            <a:endParaRPr lang="en-US" sz="1400" dirty="0">
              <a:latin typeface="Times New Roman" panose="02020603050405020304" pitchFamily="18" charset="0"/>
              <a:cs typeface="Times New Roman" panose="02020603050405020304" pitchFamily="18" charset="0"/>
            </a:endParaRPr>
          </a:p>
          <a:p>
            <a:pPr lvl="2"/>
            <a:r>
              <a:rPr lang="en-IN" sz="1400" dirty="0">
                <a:latin typeface="Times New Roman" panose="02020603050405020304" pitchFamily="18" charset="0"/>
                <a:cs typeface="Times New Roman" panose="02020603050405020304" pitchFamily="18" charset="0"/>
              </a:rPr>
              <a:t>Our Analysis comprises data of over 350 Startups which have successfully raised funding in the last 1-1.5 Yrs. The Objective of this analysis is to understand Venture capital outlook and provide perspective into what the future of Indian Entrepreneurship beholds.</a:t>
            </a:r>
            <a:endParaRPr lang="en-US" sz="1100" dirty="0">
              <a:latin typeface="Times New Roman" panose="02020603050405020304" pitchFamily="18" charset="0"/>
              <a:cs typeface="Times New Roman" panose="02020603050405020304" pitchFamily="18" charset="0"/>
            </a:endParaRPr>
          </a:p>
          <a:p>
            <a:pPr lvl="2"/>
            <a:endParaRPr lang="en-US" sz="14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2052" name="Picture 4" descr="Congress Avenue Ventures - Alumni Venture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47006" y="823784"/>
            <a:ext cx="4622136" cy="2553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05229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2421" y="-123571"/>
            <a:ext cx="11195693" cy="675503"/>
          </a:xfrm>
        </p:spPr>
        <p:txBody>
          <a:bodyPr>
            <a:normAutofit/>
          </a:bodyPr>
          <a:lstStyle/>
          <a:p>
            <a:pPr algn="ctr"/>
            <a:r>
              <a:rPr lang="en-US" sz="2800" b="1" dirty="0">
                <a:latin typeface="Times New Roman" panose="02020603050405020304" pitchFamily="18" charset="0"/>
                <a:cs typeface="Times New Roman" panose="02020603050405020304" pitchFamily="18" charset="0"/>
              </a:rPr>
              <a:t>Distribution by Funding Round </a:t>
            </a:r>
            <a:endParaRPr lang="en-IN" sz="2800" b="1" dirty="0">
              <a:latin typeface="Times New Roman" panose="02020603050405020304" pitchFamily="18" charset="0"/>
              <a:cs typeface="Times New Roman" panose="02020603050405020304" pitchFamily="18" charset="0"/>
            </a:endParaRPr>
          </a:p>
        </p:txBody>
      </p:sp>
      <p:pic>
        <p:nvPicPr>
          <p:cNvPr id="5" name="Picture 4" descr="C:\Users\shouh\AppData\Local\Microsoft\Windows\INetCache\Content.MSO\635078BD.tmp"/>
          <p:cNvPicPr/>
          <p:nvPr/>
        </p:nvPicPr>
        <p:blipFill>
          <a:blip r:embed="rId2">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238897" y="551932"/>
            <a:ext cx="5931244" cy="3685887"/>
          </a:xfrm>
          <a:prstGeom prst="rect">
            <a:avLst/>
          </a:prstGeom>
          <a:solidFill>
            <a:schemeClr val="tx2"/>
          </a:solidFill>
          <a:ln>
            <a:solidFill>
              <a:schemeClr val="tx1"/>
            </a:solidFill>
          </a:ln>
        </p:spPr>
      </p:pic>
      <p:sp>
        <p:nvSpPr>
          <p:cNvPr id="7" name="TextBox 6"/>
          <p:cNvSpPr txBox="1"/>
          <p:nvPr/>
        </p:nvSpPr>
        <p:spPr>
          <a:xfrm>
            <a:off x="6318422" y="584884"/>
            <a:ext cx="5601730" cy="6724918"/>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We try to analyze the distribution of the entire funding received in Round Basis:-</a:t>
            </a:r>
          </a:p>
          <a:p>
            <a:endParaRPr lang="en-US" sz="2400"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The Pre-Seed, Seed, Pre-Series A and Series A combined share an impressive 77% of Total Funding Achieved. This Denotes a Significant Shift in Investor Risk Aversion.</a:t>
            </a:r>
          </a:p>
          <a:p>
            <a:pPr marL="742950" lvl="1" indent="-285750">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The Largest Share of Series-A Still Hints at Investor Inclination towards startups which already have stable revenues and robust Market Share.</a:t>
            </a:r>
          </a:p>
          <a:p>
            <a:pPr marL="742950" lvl="1" indent="-285750">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The Relatively Negligible Share of Later Funding Stages (Series C, D) signify the increased focus on Profitability for Later Stage Mature Startups.</a:t>
            </a:r>
          </a:p>
          <a:p>
            <a:pPr marL="742950" lvl="1" indent="-285750">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The average funding value in seed round is around $ 2 Million ranging from $125 Thousand to $ 20 Million.</a:t>
            </a:r>
          </a:p>
          <a:p>
            <a:pPr marL="742950" lvl="1" indent="-285750">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Pre-Seed Funding has seen substantial growth, average funding value as $ 0.8 Million.</a:t>
            </a:r>
          </a:p>
          <a:p>
            <a:pPr marL="742950" lvl="1" indent="-285750">
              <a:buFont typeface="Wingdings" panose="05000000000000000000" pitchFamily="2" charset="2"/>
              <a:buChar char="Ø"/>
            </a:pPr>
            <a:r>
              <a:rPr lang="en-IN" sz="1600" dirty="0">
                <a:latin typeface="Times New Roman" panose="02020603050405020304" pitchFamily="18" charset="0"/>
                <a:cs typeface="Times New Roman" panose="02020603050405020304" pitchFamily="18" charset="0"/>
              </a:rPr>
              <a:t>The Lower share of Funding in the later stages can also be attributed to the deal size of later stage funding. The average Series C funding lies in the $25 Million range contributing to increased Concentration Risk and Reduced Diversification in the VC’s Portfolio. </a:t>
            </a:r>
          </a:p>
          <a:p>
            <a:pPr marL="742950" lvl="1" indent="-285750">
              <a:buFont typeface="Wingdings" panose="05000000000000000000" pitchFamily="2" charset="2"/>
              <a:buChar char="Ø"/>
            </a:pPr>
            <a:endParaRPr lang="en-IN" sz="1600"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Ø"/>
            </a:pPr>
            <a:endParaRPr lang="en-IN" sz="1200"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Ø"/>
            </a:pPr>
            <a:endParaRPr lang="en-IN" sz="1200"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Ø"/>
            </a:pPr>
            <a:endParaRPr lang="en-IN" sz="700"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Ø"/>
            </a:pPr>
            <a:endParaRPr lang="en-IN" sz="800" dirty="0">
              <a:latin typeface="Times New Roman" panose="02020603050405020304" pitchFamily="18" charset="0"/>
              <a:cs typeface="Times New Roman" panose="02020603050405020304" pitchFamily="18" charset="0"/>
            </a:endParaRPr>
          </a:p>
        </p:txBody>
      </p:sp>
      <p:pic>
        <p:nvPicPr>
          <p:cNvPr id="5122" name="Picture 2" descr="Startup Funding Strategies. Allow me to share a story that isn't… | by R B  Srikanth | Mediu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897" y="4342254"/>
            <a:ext cx="6170530" cy="23798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0523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708" y="57666"/>
            <a:ext cx="11574162" cy="545987"/>
          </a:xfrm>
        </p:spPr>
        <p:txBody>
          <a:bodyPr>
            <a:normAutofit/>
          </a:bodyPr>
          <a:lstStyle/>
          <a:p>
            <a:pPr algn="ctr"/>
            <a:r>
              <a:rPr lang="en-US" sz="2800" b="1" dirty="0">
                <a:latin typeface="Times New Roman" panose="02020603050405020304" pitchFamily="18" charset="0"/>
                <a:cs typeface="Times New Roman" panose="02020603050405020304" pitchFamily="18" charset="0"/>
              </a:rPr>
              <a:t>Sector Analysis of Venture Capital Funding</a:t>
            </a:r>
            <a:endParaRPr lang="en-IN" sz="28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5984789" y="560172"/>
            <a:ext cx="5914767" cy="707886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Investor confidence was observed in DeepTech, Fintech and Consumer Discretionary Startups. HealthTech has witness substantial growth post the pandemic.</a:t>
            </a:r>
          </a:p>
          <a:p>
            <a:endParaRPr lang="en-US" sz="1400" dirty="0"/>
          </a:p>
          <a:p>
            <a:pPr marL="742950" lvl="1" indent="-285750">
              <a:buFont typeface="Wingdings" panose="05000000000000000000" pitchFamily="2" charset="2"/>
              <a:buChar char="Ø"/>
            </a:pPr>
            <a:r>
              <a:rPr lang="en-IN" sz="1400" dirty="0">
                <a:latin typeface="Times New Roman" panose="02020603050405020304" pitchFamily="18" charset="0"/>
                <a:cs typeface="Times New Roman" panose="02020603050405020304" pitchFamily="18" charset="0"/>
              </a:rPr>
              <a:t>Deep-Tech Startups working on Generative AI, Large Language Models (LLM’S) are a New Investor Favourite with large amounts of Inflows from Prominent VC’s.</a:t>
            </a:r>
          </a:p>
          <a:p>
            <a:pPr marL="742950" lvl="1" indent="-285750">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Direct to Consumer Brands have the largest share of Investor Funding. Consumer Discretionary have become an Investor Favorite with Brands like Snitch, Bewakoof, The Souled Store becoming multi million dollar companies</a:t>
            </a:r>
          </a:p>
          <a:p>
            <a:pPr marL="742950" lvl="1" indent="-285750">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Approximately 80% of generative AI application funding was attracted by existing companies integrating generative AI in their extant workflows, in comparison with 20% funding to such native startups.</a:t>
            </a:r>
          </a:p>
          <a:p>
            <a:pPr marL="742950" lvl="1" indent="-285750">
              <a:buFont typeface="Wingdings" panose="05000000000000000000" pitchFamily="2" charset="2"/>
              <a:buChar char="Ø"/>
            </a:pPr>
            <a:r>
              <a:rPr lang="en-IN" sz="1400" dirty="0">
                <a:latin typeface="Times New Roman" panose="02020603050405020304" pitchFamily="18" charset="0"/>
                <a:cs typeface="Times New Roman" panose="02020603050405020304" pitchFamily="18" charset="0"/>
              </a:rPr>
              <a:t>A new Emerging Sector is seen among the Wealth Management Space with Wealth-Tech Startups like DEZERV, Stable Money, Centricity, </a:t>
            </a:r>
            <a:r>
              <a:rPr lang="en-IN" sz="1400" dirty="0" err="1">
                <a:latin typeface="Times New Roman" panose="02020603050405020304" pitchFamily="18" charset="0"/>
                <a:cs typeface="Times New Roman" panose="02020603050405020304" pitchFamily="18" charset="0"/>
              </a:rPr>
              <a:t>InvestorAI</a:t>
            </a:r>
            <a:r>
              <a:rPr lang="en-IN" sz="1400" dirty="0">
                <a:latin typeface="Times New Roman" panose="02020603050405020304" pitchFamily="18" charset="0"/>
                <a:cs typeface="Times New Roman" panose="02020603050405020304" pitchFamily="18" charset="0"/>
              </a:rPr>
              <a:t>, and Neo Wealth Management Successfully raising Funding during these difficult Times.</a:t>
            </a:r>
          </a:p>
          <a:p>
            <a:pPr marL="742950" lvl="1" indent="-285750">
              <a:buFont typeface="Wingdings" panose="05000000000000000000" pitchFamily="2" charset="2"/>
              <a:buChar char="Ø"/>
            </a:pPr>
            <a:r>
              <a:rPr lang="en-IN" sz="1400" dirty="0">
                <a:latin typeface="Times New Roman" panose="02020603050405020304" pitchFamily="18" charset="0"/>
                <a:cs typeface="Times New Roman" panose="02020603050405020304" pitchFamily="18" charset="0"/>
              </a:rPr>
              <a:t>EV Infrastructure has gained significant momentum attracting over 3% of total funding. This sector has huge potential of future growth aligning itself with the Nation’s Vision of achieving net zero by 2070.</a:t>
            </a:r>
          </a:p>
          <a:p>
            <a:pPr marL="742950" lvl="1" indent="-285750">
              <a:buFont typeface="Wingdings" panose="05000000000000000000" pitchFamily="2" charset="2"/>
              <a:buChar char="Ø"/>
            </a:pPr>
            <a:r>
              <a:rPr lang="en-IN" sz="1400" dirty="0">
                <a:latin typeface="Times New Roman" panose="02020603050405020304" pitchFamily="18" charset="0"/>
                <a:cs typeface="Times New Roman" panose="02020603050405020304" pitchFamily="18" charset="0"/>
              </a:rPr>
              <a:t>An Emergence of the Manufacturing Sector is seen as an impetus to the Make-In- India Initiative of the Central Leadership, Attracting 3.4 % of Total Funding.</a:t>
            </a:r>
          </a:p>
          <a:p>
            <a:pPr marL="742950" lvl="1" indent="-285750">
              <a:buFont typeface="Wingdings" panose="05000000000000000000" pitchFamily="2" charset="2"/>
              <a:buChar char="Ø"/>
            </a:pPr>
            <a:r>
              <a:rPr lang="en-IN" sz="1400" dirty="0">
                <a:latin typeface="Times New Roman" panose="02020603050405020304" pitchFamily="18" charset="0"/>
                <a:cs typeface="Times New Roman" panose="02020603050405020304" pitchFamily="18" charset="0"/>
              </a:rPr>
              <a:t>Ed-Tech Startups have struggled to regain Investor confidence due to extremely saturated Market and high competition. Consequently it has only attracted 2% of total funding.</a:t>
            </a:r>
          </a:p>
          <a:p>
            <a:pPr marL="742950" lvl="1" indent="-285750">
              <a:buFont typeface="Wingdings" panose="05000000000000000000" pitchFamily="2" charset="2"/>
              <a:buChar char="Ø"/>
            </a:pPr>
            <a:endParaRPr lang="en-IN" sz="1100"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Ø"/>
            </a:pPr>
            <a:endParaRPr lang="en-IN" sz="1400"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Ø"/>
            </a:pPr>
            <a:endParaRPr lang="en-IN" sz="1100"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Ø"/>
            </a:pPr>
            <a:endParaRPr lang="en-IN" sz="1400" dirty="0">
              <a:latin typeface="Times New Roman" panose="02020603050405020304" pitchFamily="18" charset="0"/>
              <a:cs typeface="Times New Roman" panose="02020603050405020304" pitchFamily="18" charset="0"/>
            </a:endParaRPr>
          </a:p>
        </p:txBody>
      </p:sp>
      <p:pic>
        <p:nvPicPr>
          <p:cNvPr id="6" name="Picture 5" descr="C:\Users\shouh\AppData\Local\Microsoft\Windows\INetCache\Content.MSO\DFF506D3.tmp"/>
          <p:cNvPicPr/>
          <p:nvPr/>
        </p:nvPicPr>
        <p:blipFill>
          <a:blip r:embed="rId2">
            <a:extLst>
              <a:ext uri="{BEBA8EAE-BF5A-486C-A8C5-ECC9F3942E4B}">
                <a14:imgProps xmlns:a14="http://schemas.microsoft.com/office/drawing/2010/main">
                  <a14:imgLayer r:embed="rId3">
                    <a14:imgEffect>
                      <a14:colorTemperature colorTemp="4700"/>
                    </a14:imgEffect>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115328" y="710735"/>
            <a:ext cx="5731510" cy="3544570"/>
          </a:xfrm>
          <a:prstGeom prst="rect">
            <a:avLst/>
          </a:prstGeom>
          <a:noFill/>
          <a:ln>
            <a:solidFill>
              <a:schemeClr val="tx1"/>
            </a:solidFill>
          </a:ln>
        </p:spPr>
      </p:pic>
      <p:pic>
        <p:nvPicPr>
          <p:cNvPr id="3076" name="Picture 4" descr="Utopiic | BRSR, Sustainability, GRI and ESG Reporti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53711" y="4942702"/>
            <a:ext cx="2306595" cy="1326293"/>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How Make in India Can Lead The World With Disruptive Innovati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28" y="4345458"/>
            <a:ext cx="3735410" cy="2487827"/>
          </a:xfrm>
          <a:prstGeom prst="rect">
            <a:avLst/>
          </a:prstGeom>
          <a:noFill/>
          <a:extLst>
            <a:ext uri="{909E8E84-426E-40DD-AFC4-6F175D3DCCD1}">
              <a14:hiddenFill xmlns:a14="http://schemas.microsoft.com/office/drawing/2010/main">
                <a:solidFill>
                  <a:srgbClr val="FFFFFF"/>
                </a:solidFill>
              </a14:hiddenFill>
            </a:ext>
          </a:extLst>
        </p:spPr>
      </p:pic>
      <p:sp>
        <p:nvSpPr>
          <p:cNvPr id="5" name="AutoShape 10" descr="Make in India CCTV | Industrial Grade CCTV &amp; PoE Switch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40456467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Users\shouh\AppData\Local\Microsoft\Windows\INetCache\Content.MSO\30F634C6.tmp">
            <a:extLst>
              <a:ext uri="{FF2B5EF4-FFF2-40B4-BE49-F238E27FC236}">
                <a16:creationId xmlns:a16="http://schemas.microsoft.com/office/drawing/2014/main" id="{036D1E9F-C741-4C75-88AB-D5EA8E9B0DAF}"/>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p:spPr>
      </p:pic>
    </p:spTree>
    <p:extLst>
      <p:ext uri="{BB962C8B-B14F-4D97-AF65-F5344CB8AC3E}">
        <p14:creationId xmlns:p14="http://schemas.microsoft.com/office/powerpoint/2010/main" val="3113945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826524A3-B4D7-4321-B3F1-4ABEC950F29D}"/>
              </a:ext>
            </a:extLst>
          </p:cNvPr>
          <p:cNvSpPr>
            <a:spLocks noGrp="1"/>
          </p:cNvSpPr>
          <p:nvPr>
            <p:ph type="body" sz="half" idx="2"/>
          </p:nvPr>
        </p:nvSpPr>
        <p:spPr>
          <a:xfrm>
            <a:off x="7801033" y="323849"/>
            <a:ext cx="4189614" cy="6409459"/>
          </a:xfrm>
        </p:spPr>
        <p:txBody>
          <a:bodyPr>
            <a:normAutofit/>
          </a:bodyPr>
          <a:lstStyle/>
          <a:p>
            <a:r>
              <a:rPr lang="en-IN" sz="1600" dirty="0">
                <a:solidFill>
                  <a:schemeClr val="tx1"/>
                </a:solidFill>
                <a:latin typeface="Times New Roman" panose="02020603050405020304" pitchFamily="18" charset="0"/>
                <a:cs typeface="Times New Roman" panose="02020603050405020304" pitchFamily="18" charset="0"/>
              </a:rPr>
              <a:t>A Scatter Plot showing the relation between the Funding Amount and the Work Experience of the Founder. We Obtain a few Interesting Insights through this graph.</a:t>
            </a:r>
          </a:p>
          <a:p>
            <a:pPr marL="285750" indent="-285750">
              <a:buFont typeface="Wingdings" panose="05000000000000000000" pitchFamily="2" charset="2"/>
              <a:buChar char="Ø"/>
            </a:pPr>
            <a:r>
              <a:rPr lang="en-IN" sz="1400" dirty="0">
                <a:solidFill>
                  <a:schemeClr val="tx1"/>
                </a:solidFill>
                <a:latin typeface="Times New Roman" panose="02020603050405020304" pitchFamily="18" charset="0"/>
                <a:cs typeface="Times New Roman" panose="02020603050405020304" pitchFamily="18" charset="0"/>
              </a:rPr>
              <a:t>This confirms the belief that </a:t>
            </a:r>
            <a:r>
              <a:rPr lang="en-IN" sz="1400" b="1" dirty="0">
                <a:solidFill>
                  <a:schemeClr val="tx1"/>
                </a:solidFill>
                <a:latin typeface="Times New Roman" panose="02020603050405020304" pitchFamily="18" charset="0"/>
                <a:cs typeface="Times New Roman" panose="02020603050405020304" pitchFamily="18" charset="0"/>
              </a:rPr>
              <a:t>Moderate to high work experience (5–15 years)</a:t>
            </a:r>
            <a:r>
              <a:rPr lang="en-IN" sz="1400" dirty="0">
                <a:solidFill>
                  <a:schemeClr val="tx1"/>
                </a:solidFill>
                <a:latin typeface="Times New Roman" panose="02020603050405020304" pitchFamily="18" charset="0"/>
                <a:cs typeface="Times New Roman" panose="02020603050405020304" pitchFamily="18" charset="0"/>
              </a:rPr>
              <a:t> generally </a:t>
            </a:r>
            <a:r>
              <a:rPr lang="en-IN" sz="1400" b="1" dirty="0">
                <a:solidFill>
                  <a:schemeClr val="tx1"/>
                </a:solidFill>
                <a:latin typeface="Times New Roman" panose="02020603050405020304" pitchFamily="18" charset="0"/>
                <a:cs typeface="Times New Roman" panose="02020603050405020304" pitchFamily="18" charset="0"/>
              </a:rPr>
              <a:t>increases the probability of funding</a:t>
            </a:r>
            <a:r>
              <a:rPr lang="en-IN" sz="1400" dirty="0">
                <a:solidFill>
                  <a:schemeClr val="tx1"/>
                </a:solidFill>
                <a:latin typeface="Times New Roman" panose="02020603050405020304" pitchFamily="18" charset="0"/>
                <a:cs typeface="Times New Roman" panose="02020603050405020304" pitchFamily="18" charset="0"/>
              </a:rPr>
              <a:t>, especially from institutional investors like VCs and PE funds.</a:t>
            </a:r>
          </a:p>
          <a:p>
            <a:pPr marL="285750" indent="-285750">
              <a:buFont typeface="Wingdings" panose="05000000000000000000" pitchFamily="2" charset="2"/>
              <a:buChar char="Ø"/>
            </a:pPr>
            <a:r>
              <a:rPr lang="en-IN" sz="1400" dirty="0">
                <a:solidFill>
                  <a:schemeClr val="tx1"/>
                </a:solidFill>
                <a:latin typeface="Times New Roman" panose="02020603050405020304" pitchFamily="18" charset="0"/>
                <a:cs typeface="Times New Roman" panose="02020603050405020304" pitchFamily="18" charset="0"/>
              </a:rPr>
              <a:t>Very high work experience (20+ years) may correlate with </a:t>
            </a:r>
            <a:r>
              <a:rPr lang="en-IN" sz="1400" b="1" dirty="0">
                <a:solidFill>
                  <a:schemeClr val="tx1"/>
                </a:solidFill>
                <a:latin typeface="Times New Roman" panose="02020603050405020304" pitchFamily="18" charset="0"/>
                <a:cs typeface="Times New Roman" panose="02020603050405020304" pitchFamily="18" charset="0"/>
              </a:rPr>
              <a:t>lower </a:t>
            </a:r>
            <a:r>
              <a:rPr lang="en-IN" sz="1400" b="1" dirty="0" err="1">
                <a:solidFill>
                  <a:schemeClr val="tx1"/>
                </a:solidFill>
                <a:latin typeface="Times New Roman" panose="02020603050405020304" pitchFamily="18" charset="0"/>
                <a:cs typeface="Times New Roman" panose="02020603050405020304" pitchFamily="18" charset="0"/>
              </a:rPr>
              <a:t>startup</a:t>
            </a:r>
            <a:r>
              <a:rPr lang="en-IN" sz="1400" b="1" dirty="0">
                <a:solidFill>
                  <a:schemeClr val="tx1"/>
                </a:solidFill>
                <a:latin typeface="Times New Roman" panose="02020603050405020304" pitchFamily="18" charset="0"/>
                <a:cs typeface="Times New Roman" panose="02020603050405020304" pitchFamily="18" charset="0"/>
              </a:rPr>
              <a:t> activity</a:t>
            </a:r>
            <a:r>
              <a:rPr lang="en-IN" sz="1400" dirty="0">
                <a:solidFill>
                  <a:schemeClr val="tx1"/>
                </a:solidFill>
                <a:latin typeface="Times New Roman" panose="02020603050405020304" pitchFamily="18" charset="0"/>
                <a:cs typeface="Times New Roman" panose="02020603050405020304" pitchFamily="18" charset="0"/>
              </a:rPr>
              <a:t> or </a:t>
            </a:r>
            <a:r>
              <a:rPr lang="en-IN" sz="1400" b="1" dirty="0">
                <a:solidFill>
                  <a:schemeClr val="tx1"/>
                </a:solidFill>
                <a:latin typeface="Times New Roman" panose="02020603050405020304" pitchFamily="18" charset="0"/>
                <a:cs typeface="Times New Roman" panose="02020603050405020304" pitchFamily="18" charset="0"/>
              </a:rPr>
              <a:t>less risk-taking </a:t>
            </a:r>
            <a:r>
              <a:rPr lang="en-IN" sz="1400" b="1" dirty="0" err="1">
                <a:solidFill>
                  <a:schemeClr val="tx1"/>
                </a:solidFill>
                <a:latin typeface="Times New Roman" panose="02020603050405020304" pitchFamily="18" charset="0"/>
                <a:cs typeface="Times New Roman" panose="02020603050405020304" pitchFamily="18" charset="0"/>
              </a:rPr>
              <a:t>behavior</a:t>
            </a:r>
            <a:r>
              <a:rPr lang="en-IN" sz="1400" dirty="0">
                <a:solidFill>
                  <a:schemeClr val="tx1"/>
                </a:solidFill>
                <a:latin typeface="Times New Roman" panose="02020603050405020304" pitchFamily="18" charset="0"/>
                <a:cs typeface="Times New Roman" panose="02020603050405020304" pitchFamily="18" charset="0"/>
              </a:rPr>
              <a:t>, especially in younger ecosystems.</a:t>
            </a:r>
          </a:p>
          <a:p>
            <a:pPr marL="285750" indent="-285750">
              <a:buFont typeface="Wingdings" panose="05000000000000000000" pitchFamily="2" charset="2"/>
              <a:buChar char="Ø"/>
            </a:pPr>
            <a:r>
              <a:rPr lang="en-IN" sz="1400" dirty="0">
                <a:solidFill>
                  <a:schemeClr val="tx1"/>
                </a:solidFill>
                <a:latin typeface="Times New Roman" panose="02020603050405020304" pitchFamily="18" charset="0"/>
                <a:cs typeface="Times New Roman" panose="02020603050405020304" pitchFamily="18" charset="0"/>
              </a:rPr>
              <a:t>Founders with previous startups (even failed ones) are seen as more fundable. Some investors favour younger founders (&lt;35) for scalability, energy, longer time horizon. Early-stage (idea/pre-seed) may </a:t>
            </a:r>
            <a:r>
              <a:rPr lang="en-IN" sz="1400" dirty="0" err="1">
                <a:solidFill>
                  <a:schemeClr val="tx1"/>
                </a:solidFill>
                <a:latin typeface="Times New Roman" panose="02020603050405020304" pitchFamily="18" charset="0"/>
                <a:cs typeface="Times New Roman" panose="02020603050405020304" pitchFamily="18" charset="0"/>
              </a:rPr>
              <a:t>favor</a:t>
            </a:r>
            <a:r>
              <a:rPr lang="en-IN" sz="1400" dirty="0">
                <a:solidFill>
                  <a:schemeClr val="tx1"/>
                </a:solidFill>
                <a:latin typeface="Times New Roman" panose="02020603050405020304" pitchFamily="18" charset="0"/>
                <a:cs typeface="Times New Roman" panose="02020603050405020304" pitchFamily="18" charset="0"/>
              </a:rPr>
              <a:t> young &amp; bold; growth-stage </a:t>
            </a:r>
            <a:r>
              <a:rPr lang="en-IN" sz="1400" dirty="0" err="1">
                <a:solidFill>
                  <a:schemeClr val="tx1"/>
                </a:solidFill>
                <a:latin typeface="Times New Roman" panose="02020603050405020304" pitchFamily="18" charset="0"/>
                <a:cs typeface="Times New Roman" panose="02020603050405020304" pitchFamily="18" charset="0"/>
              </a:rPr>
              <a:t>favors</a:t>
            </a:r>
            <a:r>
              <a:rPr lang="en-IN" sz="1400" dirty="0">
                <a:solidFill>
                  <a:schemeClr val="tx1"/>
                </a:solidFill>
                <a:latin typeface="Times New Roman" panose="02020603050405020304" pitchFamily="18" charset="0"/>
                <a:cs typeface="Times New Roman" panose="02020603050405020304" pitchFamily="18" charset="0"/>
              </a:rPr>
              <a:t> experienced operators.</a:t>
            </a:r>
          </a:p>
          <a:p>
            <a:pPr marL="285750" indent="-285750">
              <a:buFont typeface="Wingdings" panose="05000000000000000000" pitchFamily="2" charset="2"/>
              <a:buChar char="Ø"/>
            </a:pPr>
            <a:r>
              <a:rPr lang="en-IN" sz="1400" dirty="0">
                <a:solidFill>
                  <a:schemeClr val="tx1"/>
                </a:solidFill>
                <a:latin typeface="Times New Roman" panose="02020603050405020304" pitchFamily="18" charset="0"/>
                <a:cs typeface="Times New Roman" panose="02020603050405020304" pitchFamily="18" charset="0"/>
              </a:rPr>
              <a:t>A correlation of Relevant Work Experience is also observed within the </a:t>
            </a:r>
            <a:r>
              <a:rPr lang="en-IN" sz="1400" dirty="0" err="1">
                <a:solidFill>
                  <a:schemeClr val="tx1"/>
                </a:solidFill>
                <a:latin typeface="Times New Roman" panose="02020603050405020304" pitchFamily="18" charset="0"/>
                <a:cs typeface="Times New Roman" panose="02020603050405020304" pitchFamily="18" charset="0"/>
              </a:rPr>
              <a:t>startup</a:t>
            </a:r>
            <a:r>
              <a:rPr lang="en-IN" sz="1400" dirty="0">
                <a:solidFill>
                  <a:schemeClr val="tx1"/>
                </a:solidFill>
                <a:latin typeface="Times New Roman" panose="02020603050405020304" pitchFamily="18" charset="0"/>
                <a:cs typeface="Times New Roman" panose="02020603050405020304" pitchFamily="18" charset="0"/>
              </a:rPr>
              <a:t> Landscape. This confirms the belief of mandatory industry knowledge and networking benefits while building successful ventures.</a:t>
            </a:r>
          </a:p>
          <a:p>
            <a:endParaRPr lang="en-IN" sz="1600" dirty="0">
              <a:solidFill>
                <a:schemeClr val="tx1"/>
              </a:solidFill>
              <a:latin typeface="Times New Roman" panose="02020603050405020304" pitchFamily="18" charset="0"/>
              <a:cs typeface="Times New Roman" panose="02020603050405020304" pitchFamily="18" charset="0"/>
            </a:endParaRPr>
          </a:p>
          <a:p>
            <a:endParaRPr lang="en-IN" sz="1200" dirty="0">
              <a:latin typeface="Times New Roman" panose="02020603050405020304" pitchFamily="18" charset="0"/>
              <a:cs typeface="Times New Roman" panose="02020603050405020304" pitchFamily="18" charset="0"/>
            </a:endParaRPr>
          </a:p>
        </p:txBody>
      </p:sp>
      <p:pic>
        <p:nvPicPr>
          <p:cNvPr id="8" name="Picture 7" descr="C:\Users\shouh\AppData\Local\Microsoft\Windows\INetCache\Content.MSO\DD1E1214.tmp">
            <a:extLst>
              <a:ext uri="{FF2B5EF4-FFF2-40B4-BE49-F238E27FC236}">
                <a16:creationId xmlns:a16="http://schemas.microsoft.com/office/drawing/2014/main" id="{2D7A3AED-4F91-400A-959C-C326BC50F0E2}"/>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01353" y="323850"/>
            <a:ext cx="7599680" cy="4533900"/>
          </a:xfrm>
          <a:prstGeom prst="rect">
            <a:avLst/>
          </a:prstGeom>
          <a:noFill/>
          <a:ln>
            <a:noFill/>
          </a:ln>
        </p:spPr>
      </p:pic>
      <p:sp>
        <p:nvSpPr>
          <p:cNvPr id="9" name="TextBox 8">
            <a:extLst>
              <a:ext uri="{FF2B5EF4-FFF2-40B4-BE49-F238E27FC236}">
                <a16:creationId xmlns:a16="http://schemas.microsoft.com/office/drawing/2014/main" id="{CE5609E1-EA26-416F-A32B-C21A877A4D2B}"/>
              </a:ext>
            </a:extLst>
          </p:cNvPr>
          <p:cNvSpPr txBox="1"/>
          <p:nvPr/>
        </p:nvSpPr>
        <p:spPr>
          <a:xfrm>
            <a:off x="764771" y="4866178"/>
            <a:ext cx="6766560" cy="584775"/>
          </a:xfrm>
          <a:prstGeom prst="rect">
            <a:avLst/>
          </a:prstGeom>
          <a:noFill/>
        </p:spPr>
        <p:txBody>
          <a:bodyPr wrap="square" rtlCol="0">
            <a:spAutoFit/>
          </a:bodyPr>
          <a:lstStyle/>
          <a:p>
            <a:pPr algn="ctr"/>
            <a:r>
              <a:rPr lang="en-IN" sz="1400" b="1" dirty="0">
                <a:latin typeface="Times New Roman" panose="02020603050405020304" pitchFamily="18" charset="0"/>
                <a:cs typeface="Times New Roman" panose="02020603050405020304" pitchFamily="18" charset="0"/>
              </a:rPr>
              <a:t>Fig 3. Years of Work Experience(X-Axis) and Funding Amount (Y-Axis)</a:t>
            </a:r>
            <a:endParaRPr lang="en-IN" sz="14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253279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Users\shouh\AppData\Local\Microsoft\Windows\INetCache\Content.MSO\DADE448.tmp">
            <a:extLst>
              <a:ext uri="{FF2B5EF4-FFF2-40B4-BE49-F238E27FC236}">
                <a16:creationId xmlns:a16="http://schemas.microsoft.com/office/drawing/2014/main" id="{D6F185EC-C0D1-4024-AC03-F2AE91257D09}"/>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 y="0"/>
            <a:ext cx="12191999" cy="6857999"/>
          </a:xfrm>
          <a:prstGeom prst="rect">
            <a:avLst/>
          </a:prstGeom>
          <a:noFill/>
          <a:ln>
            <a:noFill/>
          </a:ln>
        </p:spPr>
      </p:pic>
      <p:sp>
        <p:nvSpPr>
          <p:cNvPr id="6" name="TextBox 5">
            <a:extLst>
              <a:ext uri="{FF2B5EF4-FFF2-40B4-BE49-F238E27FC236}">
                <a16:creationId xmlns:a16="http://schemas.microsoft.com/office/drawing/2014/main" id="{5085219F-AC52-4503-B2D7-0B9B82759EEA}"/>
              </a:ext>
            </a:extLst>
          </p:cNvPr>
          <p:cNvSpPr txBox="1"/>
          <p:nvPr/>
        </p:nvSpPr>
        <p:spPr>
          <a:xfrm>
            <a:off x="590204" y="349135"/>
            <a:ext cx="7173883" cy="3231654"/>
          </a:xfrm>
          <a:prstGeom prst="rect">
            <a:avLst/>
          </a:prstGeom>
          <a:noFill/>
        </p:spPr>
        <p:txBody>
          <a:bodyPr wrap="square" rtlCol="0">
            <a:spAutoFit/>
          </a:bodyPr>
          <a:lstStyle/>
          <a:p>
            <a:r>
              <a:rPr lang="en-IN" sz="1200" dirty="0">
                <a:solidFill>
                  <a:schemeClr val="bg1"/>
                </a:solidFill>
                <a:latin typeface="Times New Roman" panose="02020603050405020304" pitchFamily="18" charset="0"/>
                <a:cs typeface="Times New Roman" panose="02020603050405020304" pitchFamily="18" charset="0"/>
              </a:rPr>
              <a:t>This is one of the most interesting graphs. Our Earlier analysis involved comparing the numbers of Startups in a particular sector but here we also do a side by side comparison with the total amount of Funding Raised.</a:t>
            </a:r>
          </a:p>
          <a:p>
            <a:pPr marL="171450" lvl="0" indent="-171450">
              <a:buFont typeface="Wingdings" panose="05000000000000000000" pitchFamily="2" charset="2"/>
              <a:buChar char="Ø"/>
            </a:pPr>
            <a:r>
              <a:rPr lang="en-IN" sz="1200" dirty="0">
                <a:solidFill>
                  <a:schemeClr val="bg1"/>
                </a:solidFill>
                <a:latin typeface="Times New Roman" panose="02020603050405020304" pitchFamily="18" charset="0"/>
                <a:cs typeface="Times New Roman" panose="02020603050405020304" pitchFamily="18" charset="0"/>
              </a:rPr>
              <a:t>The Biggest Candle belong to the </a:t>
            </a:r>
            <a:r>
              <a:rPr lang="en-IN" sz="1200" b="1" dirty="0" err="1">
                <a:solidFill>
                  <a:schemeClr val="bg1"/>
                </a:solidFill>
                <a:latin typeface="Times New Roman" panose="02020603050405020304" pitchFamily="18" charset="0"/>
                <a:cs typeface="Times New Roman" panose="02020603050405020304" pitchFamily="18" charset="0"/>
              </a:rPr>
              <a:t>WealthTech</a:t>
            </a:r>
            <a:r>
              <a:rPr lang="en-IN" sz="1200" dirty="0">
                <a:solidFill>
                  <a:schemeClr val="bg1"/>
                </a:solidFill>
                <a:latin typeface="Times New Roman" panose="02020603050405020304" pitchFamily="18" charset="0"/>
                <a:cs typeface="Times New Roman" panose="02020603050405020304" pitchFamily="18" charset="0"/>
              </a:rPr>
              <a:t> Sector with Median Funding north of $15 Million. A high close to $50 Million is also observed. The Wealth Management Space with Wealth-Tech Startups </a:t>
            </a:r>
            <a:r>
              <a:rPr lang="en-IN" sz="1200" b="1" dirty="0">
                <a:solidFill>
                  <a:schemeClr val="bg1"/>
                </a:solidFill>
                <a:latin typeface="Times New Roman" panose="02020603050405020304" pitchFamily="18" charset="0"/>
                <a:cs typeface="Times New Roman" panose="02020603050405020304" pitchFamily="18" charset="0"/>
              </a:rPr>
              <a:t>like DEZERV, Stable Money, Centricity, </a:t>
            </a:r>
            <a:r>
              <a:rPr lang="en-IN" sz="1200" b="1" dirty="0" err="1">
                <a:solidFill>
                  <a:schemeClr val="bg1"/>
                </a:solidFill>
                <a:latin typeface="Times New Roman" panose="02020603050405020304" pitchFamily="18" charset="0"/>
                <a:cs typeface="Times New Roman" panose="02020603050405020304" pitchFamily="18" charset="0"/>
              </a:rPr>
              <a:t>InvestorAI</a:t>
            </a:r>
            <a:r>
              <a:rPr lang="en-IN" sz="1200" b="1" dirty="0">
                <a:solidFill>
                  <a:schemeClr val="bg1"/>
                </a:solidFill>
                <a:latin typeface="Times New Roman" panose="02020603050405020304" pitchFamily="18" charset="0"/>
                <a:cs typeface="Times New Roman" panose="02020603050405020304" pitchFamily="18" charset="0"/>
              </a:rPr>
              <a:t>, and Neo Wealth Management</a:t>
            </a:r>
            <a:r>
              <a:rPr lang="en-IN" sz="1200" dirty="0">
                <a:solidFill>
                  <a:schemeClr val="bg1"/>
                </a:solidFill>
                <a:latin typeface="Times New Roman" panose="02020603050405020304" pitchFamily="18" charset="0"/>
                <a:cs typeface="Times New Roman" panose="02020603050405020304" pitchFamily="18" charset="0"/>
              </a:rPr>
              <a:t> looks poised for future growth driven by a expanding middle class and robust growth in capital markets. </a:t>
            </a:r>
          </a:p>
          <a:p>
            <a:pPr marL="171450" indent="-171450">
              <a:buFont typeface="Wingdings" panose="05000000000000000000" pitchFamily="2" charset="2"/>
              <a:buChar char="Ø"/>
            </a:pPr>
            <a:r>
              <a:rPr lang="en-IN" sz="1200" dirty="0">
                <a:solidFill>
                  <a:schemeClr val="bg1"/>
                </a:solidFill>
                <a:latin typeface="Times New Roman" panose="02020603050405020304" pitchFamily="18" charset="0"/>
                <a:cs typeface="Times New Roman" panose="02020603050405020304" pitchFamily="18" charset="0"/>
              </a:rPr>
              <a:t>The </a:t>
            </a:r>
            <a:r>
              <a:rPr lang="en-IN" sz="1200" b="1" dirty="0">
                <a:solidFill>
                  <a:schemeClr val="bg1"/>
                </a:solidFill>
                <a:latin typeface="Times New Roman" panose="02020603050405020304" pitchFamily="18" charset="0"/>
                <a:cs typeface="Times New Roman" panose="02020603050405020304" pitchFamily="18" charset="0"/>
              </a:rPr>
              <a:t>Fintech (NBFC</a:t>
            </a:r>
            <a:r>
              <a:rPr lang="en-IN" sz="1200" dirty="0">
                <a:solidFill>
                  <a:schemeClr val="bg1"/>
                </a:solidFill>
                <a:latin typeface="Times New Roman" panose="02020603050405020304" pitchFamily="18" charset="0"/>
                <a:cs typeface="Times New Roman" panose="02020603050405020304" pitchFamily="18" charset="0"/>
              </a:rPr>
              <a:t>) space has shown substantial resilience raising a median funding of 20 $Million. The Sector itself has a projected CAGR of 18-20%, with Tech </a:t>
            </a:r>
            <a:r>
              <a:rPr lang="en-IN" sz="1200" dirty="0" err="1">
                <a:solidFill>
                  <a:schemeClr val="bg1"/>
                </a:solidFill>
                <a:latin typeface="Times New Roman" panose="02020603050405020304" pitchFamily="18" charset="0"/>
                <a:cs typeface="Times New Roman" panose="02020603050405020304" pitchFamily="18" charset="0"/>
              </a:rPr>
              <a:t>Enabed</a:t>
            </a:r>
            <a:r>
              <a:rPr lang="en-IN" sz="1200" dirty="0">
                <a:solidFill>
                  <a:schemeClr val="bg1"/>
                </a:solidFill>
                <a:latin typeface="Times New Roman" panose="02020603050405020304" pitchFamily="18" charset="0"/>
                <a:cs typeface="Times New Roman" panose="02020603050405020304" pitchFamily="18" charset="0"/>
              </a:rPr>
              <a:t> NBFC’s using embedded finance driving future growth.</a:t>
            </a:r>
          </a:p>
          <a:p>
            <a:pPr marL="171450" indent="-171450">
              <a:buFont typeface="Wingdings" panose="05000000000000000000" pitchFamily="2" charset="2"/>
              <a:buChar char="Ø"/>
            </a:pPr>
            <a:r>
              <a:rPr lang="en-IN" sz="1200" dirty="0">
                <a:solidFill>
                  <a:schemeClr val="bg1"/>
                </a:solidFill>
                <a:latin typeface="Times New Roman" panose="02020603050405020304" pitchFamily="18" charset="0"/>
                <a:cs typeface="Times New Roman" panose="02020603050405020304" pitchFamily="18" charset="0"/>
              </a:rPr>
              <a:t>The Chemical space has also attracted substantial funding with median funding close to $20 Million. Indian chemical manufacturing sector is a </a:t>
            </a:r>
            <a:r>
              <a:rPr lang="en-IN" sz="1200" b="1" dirty="0">
                <a:solidFill>
                  <a:schemeClr val="bg1"/>
                </a:solidFill>
                <a:latin typeface="Times New Roman" panose="02020603050405020304" pitchFamily="18" charset="0"/>
                <a:cs typeface="Times New Roman" panose="02020603050405020304" pitchFamily="18" charset="0"/>
              </a:rPr>
              <a:t>$220+ billion industry </a:t>
            </a:r>
            <a:r>
              <a:rPr lang="en-IN" sz="1200" dirty="0">
                <a:solidFill>
                  <a:schemeClr val="bg1"/>
                </a:solidFill>
                <a:latin typeface="Times New Roman" panose="02020603050405020304" pitchFamily="18" charset="0"/>
                <a:cs typeface="Times New Roman" panose="02020603050405020304" pitchFamily="18" charset="0"/>
              </a:rPr>
              <a:t>and Startups like </a:t>
            </a:r>
            <a:r>
              <a:rPr lang="en-IN" sz="1200" b="1" dirty="0" err="1">
                <a:solidFill>
                  <a:schemeClr val="bg1"/>
                </a:solidFill>
                <a:latin typeface="Times New Roman" panose="02020603050405020304" pitchFamily="18" charset="0"/>
                <a:cs typeface="Times New Roman" panose="02020603050405020304" pitchFamily="18" charset="0"/>
              </a:rPr>
              <a:t>Scimplify</a:t>
            </a:r>
            <a:r>
              <a:rPr lang="en-IN" sz="1200" b="1" dirty="0">
                <a:solidFill>
                  <a:schemeClr val="bg1"/>
                </a:solidFill>
                <a:latin typeface="Times New Roman" panose="02020603050405020304" pitchFamily="18" charset="0"/>
                <a:cs typeface="Times New Roman" panose="02020603050405020304" pitchFamily="18" charset="0"/>
              </a:rPr>
              <a:t> </a:t>
            </a:r>
            <a:r>
              <a:rPr lang="en-IN" sz="1200" dirty="0">
                <a:solidFill>
                  <a:schemeClr val="bg1"/>
                </a:solidFill>
                <a:latin typeface="Times New Roman" panose="02020603050405020304" pitchFamily="18" charset="0"/>
                <a:cs typeface="Times New Roman" panose="02020603050405020304" pitchFamily="18" charset="0"/>
              </a:rPr>
              <a:t>are disrupting this market with their Innovation.</a:t>
            </a:r>
          </a:p>
          <a:p>
            <a:pPr marL="171450" indent="-171450">
              <a:buFont typeface="Wingdings" panose="05000000000000000000" pitchFamily="2" charset="2"/>
              <a:buChar char="Ø"/>
            </a:pPr>
            <a:r>
              <a:rPr lang="en-IN" sz="1200" dirty="0">
                <a:solidFill>
                  <a:schemeClr val="bg1"/>
                </a:solidFill>
                <a:latin typeface="Times New Roman" panose="02020603050405020304" pitchFamily="18" charset="0"/>
                <a:cs typeface="Times New Roman" panose="02020603050405020304" pitchFamily="18" charset="0"/>
              </a:rPr>
              <a:t>EV Infrastructure Space has shown resilient funding due to government support inline with the vision of being India Being </a:t>
            </a:r>
            <a:r>
              <a:rPr lang="en-IN" sz="1200" b="1" dirty="0">
                <a:solidFill>
                  <a:schemeClr val="bg1"/>
                </a:solidFill>
                <a:latin typeface="Times New Roman" panose="02020603050405020304" pitchFamily="18" charset="0"/>
                <a:cs typeface="Times New Roman" panose="02020603050405020304" pitchFamily="18" charset="0"/>
              </a:rPr>
              <a:t>Carbon Neutral</a:t>
            </a:r>
            <a:r>
              <a:rPr lang="en-IN" sz="1200" dirty="0">
                <a:solidFill>
                  <a:schemeClr val="bg1"/>
                </a:solidFill>
                <a:latin typeface="Times New Roman" panose="02020603050405020304" pitchFamily="18" charset="0"/>
                <a:cs typeface="Times New Roman" panose="02020603050405020304" pitchFamily="18" charset="0"/>
              </a:rPr>
              <a:t> by 2070, with median Funding of $5 Million and the upper Quartile of $20 Million.</a:t>
            </a:r>
          </a:p>
          <a:p>
            <a:pPr marL="171450" lvl="0" indent="-171450">
              <a:buFont typeface="Wingdings" panose="05000000000000000000" pitchFamily="2" charset="2"/>
              <a:buChar char="Ø"/>
            </a:pPr>
            <a:endParaRPr lang="en-IN" sz="1200" dirty="0">
              <a:solidFill>
                <a:schemeClr val="bg1"/>
              </a:solidFill>
              <a:latin typeface="Times New Roman" panose="02020603050405020304" pitchFamily="18" charset="0"/>
              <a:cs typeface="Times New Roman" panose="02020603050405020304" pitchFamily="18" charset="0"/>
            </a:endParaRPr>
          </a:p>
          <a:p>
            <a:endParaRPr lang="en-IN" sz="12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8711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3B777-BCEF-403D-80F3-6893AC66B524}"/>
              </a:ext>
            </a:extLst>
          </p:cNvPr>
          <p:cNvSpPr>
            <a:spLocks noGrp="1"/>
          </p:cNvSpPr>
          <p:nvPr>
            <p:ph type="title"/>
          </p:nvPr>
        </p:nvSpPr>
        <p:spPr>
          <a:xfrm>
            <a:off x="56804" y="5068224"/>
            <a:ext cx="6019800" cy="1673397"/>
          </a:xfrm>
        </p:spPr>
        <p:txBody>
          <a:bodyPr>
            <a:noAutofit/>
          </a:bodyPr>
          <a:lstStyle/>
          <a:p>
            <a:r>
              <a:rPr lang="en-US" sz="1200" b="1" dirty="0">
                <a:latin typeface="Times New Roman" panose="02020603050405020304" pitchFamily="18" charset="0"/>
                <a:cs typeface="Times New Roman" panose="02020603050405020304" pitchFamily="18" charset="0"/>
              </a:rPr>
              <a:t>Text vectorization</a:t>
            </a:r>
            <a:r>
              <a:rPr lang="en-US" sz="1200" dirty="0">
                <a:latin typeface="Times New Roman" panose="02020603050405020304" pitchFamily="18" charset="0"/>
                <a:cs typeface="Times New Roman" panose="02020603050405020304" pitchFamily="18" charset="0"/>
              </a:rPr>
              <a:t> is the process of converting </a:t>
            </a:r>
            <a:r>
              <a:rPr lang="en-US" sz="1200" b="1" dirty="0">
                <a:latin typeface="Times New Roman" panose="02020603050405020304" pitchFamily="18" charset="0"/>
                <a:cs typeface="Times New Roman" panose="02020603050405020304" pitchFamily="18" charset="0"/>
              </a:rPr>
              <a:t>textual data (words, phrases, or sentences)</a:t>
            </a:r>
            <a:r>
              <a:rPr lang="en-US" sz="1200" dirty="0">
                <a:latin typeface="Times New Roman" panose="02020603050405020304" pitchFamily="18" charset="0"/>
                <a:cs typeface="Times New Roman" panose="02020603050405020304" pitchFamily="18" charset="0"/>
              </a:rPr>
              <a:t> into </a:t>
            </a:r>
            <a:r>
              <a:rPr lang="en-US" sz="1200" b="1" dirty="0">
                <a:latin typeface="Times New Roman" panose="02020603050405020304" pitchFamily="18" charset="0"/>
                <a:cs typeface="Times New Roman" panose="02020603050405020304" pitchFamily="18" charset="0"/>
              </a:rPr>
              <a:t>numerical representations</a:t>
            </a:r>
            <a:r>
              <a:rPr lang="en-US" sz="1200" dirty="0">
                <a:latin typeface="Times New Roman" panose="02020603050405020304" pitchFamily="18" charset="0"/>
                <a:cs typeface="Times New Roman" panose="02020603050405020304" pitchFamily="18" charset="0"/>
              </a:rPr>
              <a:t> (vectors) that can be understood and processed by machine learning models.</a:t>
            </a:r>
            <a:br>
              <a:rPr lang="en-US" sz="1200" dirty="0">
                <a:latin typeface="Times New Roman" panose="02020603050405020304" pitchFamily="18" charset="0"/>
                <a:cs typeface="Times New Roman" panose="02020603050405020304" pitchFamily="18" charset="0"/>
              </a:rPr>
            </a:br>
            <a:r>
              <a:rPr lang="en-IN" sz="1200" b="1" dirty="0">
                <a:latin typeface="Times New Roman" panose="02020603050405020304" pitchFamily="18" charset="0"/>
                <a:cs typeface="Times New Roman" panose="02020603050405020304" pitchFamily="18" charset="0"/>
              </a:rPr>
              <a:t>Bag of Words</a:t>
            </a:r>
            <a:r>
              <a:rPr lang="en-IN" sz="1200" dirty="0">
                <a:latin typeface="Times New Roman" panose="02020603050405020304" pitchFamily="18" charset="0"/>
                <a:cs typeface="Times New Roman" panose="02020603050405020304" pitchFamily="18" charset="0"/>
              </a:rPr>
              <a:t> turns sentences into fixed-length vectors where each dimension corresponds to a unique word in the corpus, and values represent the frequency of that word.</a:t>
            </a:r>
            <a:br>
              <a:rPr lang="en-IN" sz="1200" dirty="0">
                <a:latin typeface="Times New Roman" panose="02020603050405020304" pitchFamily="18" charset="0"/>
                <a:cs typeface="Times New Roman" panose="02020603050405020304" pitchFamily="18" charset="0"/>
              </a:rPr>
            </a:br>
            <a:endParaRPr lang="en-IN" sz="1200" dirty="0">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F7AD3BAE-BF6A-42C6-BDB0-2E7C2717F8B8}"/>
              </a:ext>
            </a:extLst>
          </p:cNvPr>
          <p:cNvSpPr>
            <a:spLocks noGrp="1"/>
          </p:cNvSpPr>
          <p:nvPr>
            <p:ph type="body" sz="half" idx="2"/>
          </p:nvPr>
        </p:nvSpPr>
        <p:spPr>
          <a:xfrm>
            <a:off x="98974" y="386888"/>
            <a:ext cx="4254125" cy="4758690"/>
          </a:xfrm>
        </p:spPr>
        <p:txBody>
          <a:bodyPr>
            <a:normAutofit/>
          </a:bodyPr>
          <a:lstStyle/>
          <a:p>
            <a:r>
              <a:rPr lang="en-IN" sz="1400" b="1" dirty="0">
                <a:solidFill>
                  <a:schemeClr val="tx1"/>
                </a:solidFill>
                <a:latin typeface="Times New Roman" panose="02020603050405020304" pitchFamily="18" charset="0"/>
                <a:cs typeface="Times New Roman" panose="02020603050405020304" pitchFamily="18" charset="0"/>
              </a:rPr>
              <a:t>Text Vectorization </a:t>
            </a:r>
            <a:r>
              <a:rPr lang="en-IN" sz="1400" dirty="0">
                <a:solidFill>
                  <a:schemeClr val="tx1"/>
                </a:solidFill>
                <a:latin typeface="Times New Roman" panose="02020603050405020304" pitchFamily="18" charset="0"/>
                <a:cs typeface="Times New Roman" panose="02020603050405020304" pitchFamily="18" charset="0"/>
              </a:rPr>
              <a:t>is executed on the dataset of the ideation column and then the frequency of word occurrences is plotted.</a:t>
            </a:r>
            <a:r>
              <a:rPr lang="en-US" sz="1400" dirty="0">
                <a:solidFill>
                  <a:schemeClr val="tx1"/>
                </a:solidFill>
                <a:latin typeface="Times New Roman" panose="02020603050405020304" pitchFamily="18" charset="0"/>
                <a:cs typeface="Times New Roman" panose="02020603050405020304" pitchFamily="18" charset="0"/>
              </a:rPr>
              <a:t> Machine learning algorithms work with numbers, not words. Text vectorization bridges this gap by transforming raw text into structured numeric formats.</a:t>
            </a:r>
          </a:p>
          <a:p>
            <a:r>
              <a:rPr lang="en-US" sz="1400" dirty="0">
                <a:solidFill>
                  <a:schemeClr val="tx1"/>
                </a:solidFill>
                <a:latin typeface="Times New Roman" panose="02020603050405020304" pitchFamily="18" charset="0"/>
                <a:cs typeface="Times New Roman" panose="02020603050405020304" pitchFamily="18" charset="0"/>
              </a:rPr>
              <a:t>The</a:t>
            </a:r>
            <a:r>
              <a:rPr lang="en-IN" sz="1400" dirty="0">
                <a:solidFill>
                  <a:schemeClr val="tx1"/>
                </a:solidFill>
                <a:latin typeface="Times New Roman" panose="02020603050405020304" pitchFamily="18" charset="0"/>
                <a:cs typeface="Times New Roman" panose="02020603050405020304" pitchFamily="18" charset="0"/>
              </a:rPr>
              <a:t> Interesting insights are as follows: -</a:t>
            </a:r>
          </a:p>
          <a:p>
            <a:pPr marL="171450" indent="-171450">
              <a:buFont typeface="Wingdings" panose="05000000000000000000" pitchFamily="2" charset="2"/>
              <a:buChar char="Ø"/>
            </a:pPr>
            <a:r>
              <a:rPr lang="en-IN" sz="1400" dirty="0">
                <a:solidFill>
                  <a:schemeClr val="tx1"/>
                </a:solidFill>
                <a:latin typeface="Times New Roman" panose="02020603050405020304" pitchFamily="18" charset="0"/>
                <a:cs typeface="Times New Roman" panose="02020603050405020304" pitchFamily="18" charset="0"/>
              </a:rPr>
              <a:t>The first 4 Words are general services-oriented words like “</a:t>
            </a:r>
            <a:r>
              <a:rPr lang="en-IN" sz="1400" b="1" dirty="0">
                <a:solidFill>
                  <a:schemeClr val="tx1"/>
                </a:solidFill>
                <a:latin typeface="Times New Roman" panose="02020603050405020304" pitchFamily="18" charset="0"/>
                <a:cs typeface="Times New Roman" panose="02020603050405020304" pitchFamily="18" charset="0"/>
              </a:rPr>
              <a:t>Platform”, “Offers”, “Solutions” and “Products</a:t>
            </a:r>
            <a:r>
              <a:rPr lang="en-IN" sz="1400" dirty="0">
                <a:solidFill>
                  <a:schemeClr val="tx1"/>
                </a:solidFill>
                <a:latin typeface="Times New Roman" panose="02020603050405020304" pitchFamily="18" charset="0"/>
                <a:cs typeface="Times New Roman" panose="02020603050405020304" pitchFamily="18" charset="0"/>
              </a:rPr>
              <a:t>”.</a:t>
            </a:r>
          </a:p>
          <a:p>
            <a:pPr marL="171450" indent="-171450">
              <a:buFont typeface="Wingdings" panose="05000000000000000000" pitchFamily="2" charset="2"/>
              <a:buChar char="Ø"/>
            </a:pPr>
            <a:r>
              <a:rPr lang="en-IN" sz="1400" dirty="0">
                <a:solidFill>
                  <a:schemeClr val="tx1"/>
                </a:solidFill>
                <a:latin typeface="Times New Roman" panose="02020603050405020304" pitchFamily="18" charset="0"/>
                <a:cs typeface="Times New Roman" panose="02020603050405020304" pitchFamily="18" charset="0"/>
              </a:rPr>
              <a:t>The Occurrence of </a:t>
            </a:r>
            <a:r>
              <a:rPr lang="en-IN" sz="1400" b="1" dirty="0">
                <a:solidFill>
                  <a:schemeClr val="tx1"/>
                </a:solidFill>
                <a:latin typeface="Times New Roman" panose="02020603050405020304" pitchFamily="18" charset="0"/>
                <a:cs typeface="Times New Roman" panose="02020603050405020304" pitchFamily="18" charset="0"/>
              </a:rPr>
              <a:t>AI </a:t>
            </a:r>
            <a:r>
              <a:rPr lang="en-IN" sz="1400" dirty="0">
                <a:solidFill>
                  <a:schemeClr val="tx1"/>
                </a:solidFill>
                <a:latin typeface="Times New Roman" panose="02020603050405020304" pitchFamily="18" charset="0"/>
                <a:cs typeface="Times New Roman" panose="02020603050405020304" pitchFamily="18" charset="0"/>
              </a:rPr>
              <a:t>as the fifth most used word enables to understand the scale of Artificial intelligence integration taking place in the Indian Startup Landscape. Almost every sector is adopting Artificial Intelligence to streamline daily operations.</a:t>
            </a:r>
          </a:p>
          <a:p>
            <a:pPr marL="171450" indent="-171450">
              <a:buFont typeface="Wingdings" panose="05000000000000000000" pitchFamily="2" charset="2"/>
              <a:buChar char="Ø"/>
            </a:pPr>
            <a:r>
              <a:rPr lang="en-IN" sz="1400" b="1" dirty="0">
                <a:solidFill>
                  <a:schemeClr val="tx1"/>
                </a:solidFill>
                <a:latin typeface="Times New Roman" panose="02020603050405020304" pitchFamily="18" charset="0"/>
                <a:cs typeface="Times New Roman" panose="02020603050405020304" pitchFamily="18" charset="0"/>
              </a:rPr>
              <a:t>Data</a:t>
            </a:r>
            <a:r>
              <a:rPr lang="en-IN" sz="1400" dirty="0">
                <a:solidFill>
                  <a:schemeClr val="tx1"/>
                </a:solidFill>
                <a:latin typeface="Times New Roman" panose="02020603050405020304" pitchFamily="18" charset="0"/>
                <a:cs typeface="Times New Roman" panose="02020603050405020304" pitchFamily="18" charset="0"/>
              </a:rPr>
              <a:t> is the 6</a:t>
            </a:r>
            <a:r>
              <a:rPr lang="en-IN" sz="1400" baseline="30000" dirty="0">
                <a:solidFill>
                  <a:schemeClr val="tx1"/>
                </a:solidFill>
                <a:latin typeface="Times New Roman" panose="02020603050405020304" pitchFamily="18" charset="0"/>
                <a:cs typeface="Times New Roman" panose="02020603050405020304" pitchFamily="18" charset="0"/>
              </a:rPr>
              <a:t>th</a:t>
            </a:r>
            <a:r>
              <a:rPr lang="en-IN" sz="1400" dirty="0">
                <a:solidFill>
                  <a:schemeClr val="tx1"/>
                </a:solidFill>
                <a:latin typeface="Times New Roman" panose="02020603050405020304" pitchFamily="18" charset="0"/>
                <a:cs typeface="Times New Roman" panose="02020603050405020304" pitchFamily="18" charset="0"/>
              </a:rPr>
              <a:t> most used word suggesting heavy influence of data science and development of Big Data Management tools in the Indian Startup Landscape.</a:t>
            </a:r>
          </a:p>
        </p:txBody>
      </p:sp>
      <p:pic>
        <p:nvPicPr>
          <p:cNvPr id="5" name="Picture 4" descr="C:\Users\shouh\AppData\Local\Microsoft\Windows\INetCache\Content.MSO\87D28542.tmp">
            <a:extLst>
              <a:ext uri="{FF2B5EF4-FFF2-40B4-BE49-F238E27FC236}">
                <a16:creationId xmlns:a16="http://schemas.microsoft.com/office/drawing/2014/main" id="{A5E76501-0E12-4755-BA96-DB3CA16F325A}"/>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395269" y="386888"/>
            <a:ext cx="7761315" cy="4681337"/>
          </a:xfrm>
          <a:prstGeom prst="rect">
            <a:avLst/>
          </a:prstGeom>
          <a:noFill/>
          <a:ln>
            <a:solidFill>
              <a:schemeClr val="tx1"/>
            </a:solidFill>
          </a:ln>
        </p:spPr>
      </p:pic>
      <p:sp>
        <p:nvSpPr>
          <p:cNvPr id="6" name="TextBox 5">
            <a:extLst>
              <a:ext uri="{FF2B5EF4-FFF2-40B4-BE49-F238E27FC236}">
                <a16:creationId xmlns:a16="http://schemas.microsoft.com/office/drawing/2014/main" id="{40F2DE67-37D2-4009-B12A-9A97495B37E3}"/>
              </a:ext>
            </a:extLst>
          </p:cNvPr>
          <p:cNvSpPr txBox="1"/>
          <p:nvPr/>
        </p:nvSpPr>
        <p:spPr>
          <a:xfrm>
            <a:off x="5733314" y="5070420"/>
            <a:ext cx="6766560" cy="584775"/>
          </a:xfrm>
          <a:prstGeom prst="rect">
            <a:avLst/>
          </a:prstGeom>
          <a:noFill/>
        </p:spPr>
        <p:txBody>
          <a:bodyPr wrap="square" rtlCol="0">
            <a:spAutoFit/>
          </a:bodyPr>
          <a:lstStyle/>
          <a:p>
            <a:pPr algn="ctr"/>
            <a:r>
              <a:rPr lang="en-IN" sz="1600" b="1" dirty="0">
                <a:latin typeface="Times New Roman" panose="02020603050405020304" pitchFamily="18" charset="0"/>
                <a:cs typeface="Times New Roman" panose="02020603050405020304" pitchFamily="18" charset="0"/>
              </a:rPr>
              <a:t>Fig 4. Frequency of Occurrence(X-Axis) and Word(Y-Axis)</a:t>
            </a:r>
            <a:endParaRPr lang="en-IN" sz="1600" dirty="0">
              <a:latin typeface="Times New Roman" panose="02020603050405020304" pitchFamily="18" charset="0"/>
              <a:cs typeface="Times New Roman" panose="02020603050405020304" pitchFamily="18" charset="0"/>
            </a:endParaRPr>
          </a:p>
          <a:p>
            <a:pPr algn="ct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66975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EB8BE105-B817-49F9-95D9-EC53930B3C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6508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76270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Users\shouh\AppData\Local\Microsoft\Windows\INetCache\Content.MSO\666716A0.tmp">
            <a:extLst>
              <a:ext uri="{FF2B5EF4-FFF2-40B4-BE49-F238E27FC236}">
                <a16:creationId xmlns:a16="http://schemas.microsoft.com/office/drawing/2014/main" id="{D7512671-64F3-4EA5-8F68-625985DC78D3}"/>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321424" y="0"/>
            <a:ext cx="8870576" cy="5764184"/>
          </a:xfrm>
          <a:prstGeom prst="rect">
            <a:avLst/>
          </a:prstGeom>
          <a:noFill/>
          <a:ln>
            <a:solidFill>
              <a:schemeClr val="tx1"/>
            </a:solidFill>
          </a:ln>
        </p:spPr>
      </p:pic>
      <p:sp>
        <p:nvSpPr>
          <p:cNvPr id="3" name="TextBox 2">
            <a:extLst>
              <a:ext uri="{FF2B5EF4-FFF2-40B4-BE49-F238E27FC236}">
                <a16:creationId xmlns:a16="http://schemas.microsoft.com/office/drawing/2014/main" id="{9EE13E07-4F22-4F8A-8D8A-E5A2C1523EDC}"/>
              </a:ext>
            </a:extLst>
          </p:cNvPr>
          <p:cNvSpPr txBox="1"/>
          <p:nvPr/>
        </p:nvSpPr>
        <p:spPr>
          <a:xfrm>
            <a:off x="4322618" y="5764184"/>
            <a:ext cx="7647709" cy="615553"/>
          </a:xfrm>
          <a:prstGeom prst="rect">
            <a:avLst/>
          </a:prstGeom>
          <a:noFill/>
        </p:spPr>
        <p:txBody>
          <a:bodyPr wrap="square" rtlCol="0">
            <a:spAutoFit/>
          </a:bodyPr>
          <a:lstStyle/>
          <a:p>
            <a:pPr algn="ctr"/>
            <a:r>
              <a:rPr lang="en-IN" sz="1600" b="1" dirty="0">
                <a:latin typeface="Times New Roman" panose="02020603050405020304" pitchFamily="18" charset="0"/>
                <a:cs typeface="Times New Roman" panose="02020603050405020304" pitchFamily="18" charset="0"/>
              </a:rPr>
              <a:t>Fig 5. Funding Round(X-Axis), Sector(Bars) and Frequency of Occurrence (Y-Axis)</a:t>
            </a:r>
            <a:endParaRPr lang="en-IN" sz="1600" dirty="0">
              <a:latin typeface="Times New Roman" panose="02020603050405020304" pitchFamily="18" charset="0"/>
              <a:cs typeface="Times New Roman" panose="02020603050405020304" pitchFamily="18" charset="0"/>
            </a:endParaRPr>
          </a:p>
          <a:p>
            <a:endParaRPr lang="en-IN" dirty="0"/>
          </a:p>
        </p:txBody>
      </p:sp>
      <p:sp>
        <p:nvSpPr>
          <p:cNvPr id="4" name="TextBox 3">
            <a:extLst>
              <a:ext uri="{FF2B5EF4-FFF2-40B4-BE49-F238E27FC236}">
                <a16:creationId xmlns:a16="http://schemas.microsoft.com/office/drawing/2014/main" id="{3F0E427E-C836-406F-995F-F8B884857F30}"/>
              </a:ext>
            </a:extLst>
          </p:cNvPr>
          <p:cNvSpPr txBox="1"/>
          <p:nvPr/>
        </p:nvSpPr>
        <p:spPr>
          <a:xfrm>
            <a:off x="0" y="58189"/>
            <a:ext cx="3192087" cy="7201972"/>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In this Plot we have a multivariable analysis involving the sector and the Funding Round of the Startup.</a:t>
            </a:r>
          </a:p>
          <a:p>
            <a:pPr marL="171450" indent="-171450">
              <a:buFont typeface="Wingdings" panose="05000000000000000000" pitchFamily="2" charset="2"/>
              <a:buChar char="Ø"/>
            </a:pPr>
            <a:r>
              <a:rPr lang="en-IN" sz="1400" dirty="0">
                <a:latin typeface="Times New Roman" panose="02020603050405020304" pitchFamily="18" charset="0"/>
                <a:cs typeface="Times New Roman" panose="02020603050405020304" pitchFamily="18" charset="0"/>
              </a:rPr>
              <a:t>Fintech Continues to lead the Indian Startup Movement with highest concentration in the Seed Funding Round.</a:t>
            </a:r>
          </a:p>
          <a:p>
            <a:pPr marL="171450" indent="-171450">
              <a:buFont typeface="Wingdings" panose="05000000000000000000" pitchFamily="2" charset="2"/>
              <a:buChar char="Ø"/>
            </a:pPr>
            <a:r>
              <a:rPr lang="en-IN" sz="1400" dirty="0">
                <a:latin typeface="Times New Roman" panose="02020603050405020304" pitchFamily="18" charset="0"/>
                <a:cs typeface="Times New Roman" panose="02020603050405020304" pitchFamily="18" charset="0"/>
              </a:rPr>
              <a:t>Consumer Discretionary is a very well distributed sector with Seed, Series A and Pre-Series A. D2C Brands are on a meteoric Rise with stories like Snitch, The Souled Store and Bewakoof fueling investor sentiment. Consumer Discretionary is a very well distributed sector with Seed, Series A and Pre-Series A. D2C Brands are on a meteoric Rise with stories like Snitch, The Souled Store and Bewakoof fueling investor sentiment.</a:t>
            </a:r>
          </a:p>
          <a:p>
            <a:pPr marL="171450" indent="-171450">
              <a:buFont typeface="Wingdings" panose="05000000000000000000" pitchFamily="2" charset="2"/>
              <a:buChar char="Ø"/>
            </a:pPr>
            <a:r>
              <a:rPr lang="en-IN" sz="1400" dirty="0">
                <a:latin typeface="Times New Roman" panose="02020603050405020304" pitchFamily="18" charset="0"/>
                <a:cs typeface="Times New Roman" panose="02020603050405020304" pitchFamily="18" charset="0"/>
              </a:rPr>
              <a:t>DeepTech Startups have significantly more concentration in the Seed phase, as seen in the plot. This suggests Heavy capital Investment in a Sector which is very R&amp;D focused and is in the nascent Stage Currently.</a:t>
            </a:r>
          </a:p>
          <a:p>
            <a:pPr marL="171450" indent="-171450">
              <a:buFont typeface="Wingdings" panose="05000000000000000000" pitchFamily="2" charset="2"/>
              <a:buChar char="Ø"/>
            </a:pPr>
            <a:r>
              <a:rPr lang="en-IN" sz="1400" dirty="0">
                <a:latin typeface="Times New Roman" panose="02020603050405020304" pitchFamily="18" charset="0"/>
                <a:cs typeface="Times New Roman" panose="02020603050405020304" pitchFamily="18" charset="0"/>
              </a:rPr>
              <a:t>HealthTech is a more Diversified Investment, finding Significant share in Seed, Series A and Even Series B Rounds. This Suggests that HealthTech as a sector is maturing and is poised for growth stabilisation in the future.</a:t>
            </a:r>
          </a:p>
          <a:p>
            <a:pPr marL="171450" indent="-171450">
              <a:buFont typeface="Wingdings" panose="05000000000000000000" pitchFamily="2" charset="2"/>
              <a:buChar char="Ø"/>
            </a:pPr>
            <a:endParaRPr lang="en-IN" sz="1400" dirty="0">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Ø"/>
            </a:pP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94815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46396" y="-32952"/>
            <a:ext cx="3657600" cy="573087"/>
          </a:xfrm>
        </p:spPr>
        <p:txBody>
          <a:bodyPr>
            <a:normAutofit/>
          </a:bodyPr>
          <a:lstStyle/>
          <a:p>
            <a:pPr algn="ctr"/>
            <a:r>
              <a:rPr lang="en-US" sz="2800" dirty="0">
                <a:latin typeface="Times New Roman" panose="02020603050405020304" pitchFamily="18" charset="0"/>
                <a:cs typeface="Times New Roman" panose="02020603050405020304" pitchFamily="18" charset="0"/>
              </a:rPr>
              <a:t>Conclusions</a:t>
            </a:r>
            <a:endParaRPr lang="en-IN" sz="2800" dirty="0">
              <a:latin typeface="Times New Roman" panose="02020603050405020304" pitchFamily="18" charset="0"/>
              <a:cs typeface="Times New Roman" panose="02020603050405020304" pitchFamily="18" charset="0"/>
            </a:endParaRPr>
          </a:p>
        </p:txBody>
      </p:sp>
      <p:sp>
        <p:nvSpPr>
          <p:cNvPr id="4" name="Text Placeholder 3"/>
          <p:cNvSpPr>
            <a:spLocks noGrp="1"/>
          </p:cNvSpPr>
          <p:nvPr>
            <p:ph type="body" sz="half" idx="2"/>
          </p:nvPr>
        </p:nvSpPr>
        <p:spPr>
          <a:xfrm>
            <a:off x="2834286" y="556610"/>
            <a:ext cx="6202621" cy="6301389"/>
          </a:xfrm>
        </p:spPr>
        <p:txBody>
          <a:bodyPr>
            <a:normAutofit/>
          </a:bodyPr>
          <a:lstStyle/>
          <a:p>
            <a:r>
              <a:rPr lang="en-US" dirty="0">
                <a:solidFill>
                  <a:schemeClr val="tx1"/>
                </a:solidFill>
                <a:latin typeface="Times New Roman" panose="02020603050405020304" pitchFamily="18" charset="0"/>
                <a:cs typeface="Times New Roman" panose="02020603050405020304" pitchFamily="18" charset="0"/>
              </a:rPr>
              <a:t>The project was aimed at a quantitative analysis and understanding of the current funding landscape and the possible reasons for securing capital in a high interest rate environment, wherein the era of easy money is gone.</a:t>
            </a:r>
          </a:p>
          <a:p>
            <a:pPr marL="742950" lvl="1" indent="-285750">
              <a:buFont typeface="Wingdings" panose="05000000000000000000" pitchFamily="2" charset="2"/>
              <a:buChar char="Ø"/>
            </a:pPr>
            <a:r>
              <a:rPr lang="en-IN" sz="1400" dirty="0">
                <a:solidFill>
                  <a:schemeClr val="tx1"/>
                </a:solidFill>
                <a:latin typeface="Times New Roman" panose="02020603050405020304" pitchFamily="18" charset="0"/>
                <a:cs typeface="Times New Roman" panose="02020603050405020304" pitchFamily="18" charset="0"/>
              </a:rPr>
              <a:t>Venture capitalists have pivoted towards Innovation and Experimentation supporting a large number of startups early on through Pre-seed and Seed Funding Rounds, contributing to 33% of total Funding.</a:t>
            </a:r>
          </a:p>
          <a:p>
            <a:pPr marL="742950" lvl="1" indent="-285750">
              <a:buFont typeface="Wingdings" panose="05000000000000000000" pitchFamily="2" charset="2"/>
              <a:buChar char="Ø"/>
            </a:pPr>
            <a:r>
              <a:rPr lang="en-IN" sz="1400" dirty="0">
                <a:solidFill>
                  <a:schemeClr val="tx1"/>
                </a:solidFill>
                <a:latin typeface="Times New Roman" panose="02020603050405020304" pitchFamily="18" charset="0"/>
                <a:cs typeface="Times New Roman" panose="02020603050405020304" pitchFamily="18" charset="0"/>
              </a:rPr>
              <a:t>A Rising Middle Class has resulted in more Disposable Income contributing to a greater market for Wealth Management Services leading to the emergence of Wealth-Tech Startups attracting significant funding. Deep-Tech Startups working on Generative AI and Large Language Models (LLM’s) have become an Investor Favourite. </a:t>
            </a:r>
          </a:p>
          <a:p>
            <a:pPr marL="742950" lvl="1" indent="-285750">
              <a:buFont typeface="Wingdings" panose="05000000000000000000" pitchFamily="2" charset="2"/>
              <a:buChar char="Ø"/>
            </a:pPr>
            <a:r>
              <a:rPr lang="en-IN" sz="1400" dirty="0">
                <a:solidFill>
                  <a:schemeClr val="tx1"/>
                </a:solidFill>
                <a:latin typeface="Times New Roman" panose="02020603050405020304" pitchFamily="18" charset="0"/>
                <a:cs typeface="Times New Roman" panose="02020603050405020304" pitchFamily="18" charset="0"/>
              </a:rPr>
              <a:t>Work Experience has proven an inevitable trait for successful entrepreneurship. </a:t>
            </a:r>
            <a:r>
              <a:rPr lang="en-IN" sz="1400" b="1" dirty="0">
                <a:solidFill>
                  <a:schemeClr val="tx1"/>
                </a:solidFill>
                <a:latin typeface="Times New Roman" panose="02020603050405020304" pitchFamily="18" charset="0"/>
                <a:cs typeface="Times New Roman" panose="02020603050405020304" pitchFamily="18" charset="0"/>
              </a:rPr>
              <a:t>Moderate to high work experience (5–15 years)</a:t>
            </a:r>
            <a:r>
              <a:rPr lang="en-IN" sz="1400" dirty="0">
                <a:solidFill>
                  <a:schemeClr val="tx1"/>
                </a:solidFill>
                <a:latin typeface="Times New Roman" panose="02020603050405020304" pitchFamily="18" charset="0"/>
                <a:cs typeface="Times New Roman" panose="02020603050405020304" pitchFamily="18" charset="0"/>
              </a:rPr>
              <a:t> generally </a:t>
            </a:r>
            <a:r>
              <a:rPr lang="en-IN" sz="1400" b="1" dirty="0">
                <a:solidFill>
                  <a:schemeClr val="tx1"/>
                </a:solidFill>
                <a:latin typeface="Times New Roman" panose="02020603050405020304" pitchFamily="18" charset="0"/>
                <a:cs typeface="Times New Roman" panose="02020603050405020304" pitchFamily="18" charset="0"/>
              </a:rPr>
              <a:t>increases the probability of funding</a:t>
            </a:r>
            <a:r>
              <a:rPr lang="en-IN" sz="1400" dirty="0">
                <a:solidFill>
                  <a:schemeClr val="tx1"/>
                </a:solidFill>
                <a:latin typeface="Times New Roman" panose="02020603050405020304" pitchFamily="18" charset="0"/>
                <a:cs typeface="Times New Roman" panose="02020603050405020304" pitchFamily="18" charset="0"/>
              </a:rPr>
              <a:t>, especially from institutional investors like VCs and PE funds.</a:t>
            </a:r>
          </a:p>
          <a:p>
            <a:pPr marL="742950" lvl="1" indent="-285750">
              <a:buFont typeface="Wingdings" panose="05000000000000000000" pitchFamily="2" charset="2"/>
              <a:buChar char="Ø"/>
            </a:pPr>
            <a:r>
              <a:rPr lang="en-IN" sz="1400" dirty="0">
                <a:solidFill>
                  <a:schemeClr val="tx1"/>
                </a:solidFill>
                <a:latin typeface="Times New Roman" panose="02020603050405020304" pitchFamily="18" charset="0"/>
                <a:cs typeface="Times New Roman" panose="02020603050405020304" pitchFamily="18" charset="0"/>
              </a:rPr>
              <a:t>Text vectorization yields the insight that Integration of Artificial Intelligence is happening at an unprecedented scale. Startups not operating in DeepTech Sector are also adopting </a:t>
            </a:r>
            <a:r>
              <a:rPr lang="en-IN" sz="1400" dirty="0" err="1">
                <a:solidFill>
                  <a:schemeClr val="tx1"/>
                </a:solidFill>
                <a:latin typeface="Times New Roman" panose="02020603050405020304" pitchFamily="18" charset="0"/>
                <a:cs typeface="Times New Roman" panose="02020603050405020304" pitchFamily="18" charset="0"/>
              </a:rPr>
              <a:t>Artifiicial</a:t>
            </a:r>
            <a:r>
              <a:rPr lang="en-IN" sz="1400" dirty="0">
                <a:solidFill>
                  <a:schemeClr val="tx1"/>
                </a:solidFill>
                <a:latin typeface="Times New Roman" panose="02020603050405020304" pitchFamily="18" charset="0"/>
                <a:cs typeface="Times New Roman" panose="02020603050405020304" pitchFamily="18" charset="0"/>
              </a:rPr>
              <a:t> Intelligence to streamline operations, Improve Customer Experience and Boost employee Productivity.</a:t>
            </a:r>
          </a:p>
          <a:p>
            <a:pPr marL="742950" lvl="1" indent="-285750">
              <a:buFont typeface="Wingdings" panose="05000000000000000000" pitchFamily="2" charset="2"/>
              <a:buChar char="Ø"/>
            </a:pPr>
            <a:r>
              <a:rPr lang="en-IN" sz="1400" dirty="0">
                <a:solidFill>
                  <a:schemeClr val="tx1"/>
                </a:solidFill>
                <a:latin typeface="Times New Roman" panose="02020603050405020304" pitchFamily="18" charset="0"/>
                <a:cs typeface="Times New Roman" panose="02020603050405020304" pitchFamily="18" charset="0"/>
              </a:rPr>
              <a:t>A Geographic Correlation has emerged with the sector of the </a:t>
            </a:r>
            <a:r>
              <a:rPr lang="en-IN" sz="1400" dirty="0" err="1">
                <a:solidFill>
                  <a:schemeClr val="tx1"/>
                </a:solidFill>
                <a:latin typeface="Times New Roman" panose="02020603050405020304" pitchFamily="18" charset="0"/>
                <a:cs typeface="Times New Roman" panose="02020603050405020304" pitchFamily="18" charset="0"/>
              </a:rPr>
              <a:t>strartup</a:t>
            </a:r>
            <a:r>
              <a:rPr lang="en-IN" sz="1400" dirty="0">
                <a:solidFill>
                  <a:schemeClr val="tx1"/>
                </a:solidFill>
                <a:latin typeface="Times New Roman" panose="02020603050405020304" pitchFamily="18" charset="0"/>
                <a:cs typeface="Times New Roman" panose="02020603050405020304" pitchFamily="18" charset="0"/>
              </a:rPr>
              <a:t>. Bangalore has </a:t>
            </a:r>
            <a:r>
              <a:rPr lang="en-IN" sz="1400" dirty="0" err="1">
                <a:solidFill>
                  <a:schemeClr val="tx1"/>
                </a:solidFill>
                <a:latin typeface="Times New Roman" panose="02020603050405020304" pitchFamily="18" charset="0"/>
                <a:cs typeface="Times New Roman" panose="02020603050405020304" pitchFamily="18" charset="0"/>
              </a:rPr>
              <a:t>emergered</a:t>
            </a:r>
            <a:r>
              <a:rPr lang="en-IN" sz="1400" dirty="0">
                <a:solidFill>
                  <a:schemeClr val="tx1"/>
                </a:solidFill>
                <a:latin typeface="Times New Roman" panose="02020603050405020304" pitchFamily="18" charset="0"/>
                <a:cs typeface="Times New Roman" panose="02020603050405020304" pitchFamily="18" charset="0"/>
              </a:rPr>
              <a:t> as Balanced Location for both Fintech and </a:t>
            </a:r>
            <a:r>
              <a:rPr lang="en-IN" sz="1400" dirty="0" err="1">
                <a:solidFill>
                  <a:schemeClr val="tx1"/>
                </a:solidFill>
                <a:latin typeface="Times New Roman" panose="02020603050405020304" pitchFamily="18" charset="0"/>
                <a:cs typeface="Times New Roman" panose="02020603050405020304" pitchFamily="18" charset="0"/>
              </a:rPr>
              <a:t>Conusmer</a:t>
            </a:r>
            <a:r>
              <a:rPr lang="en-IN" sz="1400" dirty="0">
                <a:solidFill>
                  <a:schemeClr val="tx1"/>
                </a:solidFill>
                <a:latin typeface="Times New Roman" panose="02020603050405020304" pitchFamily="18" charset="0"/>
                <a:cs typeface="Times New Roman" panose="02020603050405020304" pitchFamily="18" charset="0"/>
              </a:rPr>
              <a:t> Discretionary whereas Gurugram has emerged as a Fintech </a:t>
            </a:r>
            <a:r>
              <a:rPr lang="en-IN" sz="1400" dirty="0" err="1">
                <a:solidFill>
                  <a:schemeClr val="tx1"/>
                </a:solidFill>
                <a:latin typeface="Times New Roman" panose="02020603050405020304" pitchFamily="18" charset="0"/>
                <a:cs typeface="Times New Roman" panose="02020603050405020304" pitchFamily="18" charset="0"/>
              </a:rPr>
              <a:t>Favorite</a:t>
            </a:r>
            <a:r>
              <a:rPr lang="en-IN" sz="1400" dirty="0">
                <a:solidFill>
                  <a:schemeClr val="tx1"/>
                </a:solidFill>
                <a:latin typeface="Times New Roman" panose="02020603050405020304" pitchFamily="18" charset="0"/>
                <a:cs typeface="Times New Roman" panose="02020603050405020304" pitchFamily="18" charset="0"/>
              </a:rPr>
              <a:t> and Mumbai Taking the place for the Consumer Discretionary sector.</a:t>
            </a:r>
          </a:p>
        </p:txBody>
      </p:sp>
      <p:pic>
        <p:nvPicPr>
          <p:cNvPr id="4098" name="Picture 2" descr="Startups in India and Data Localisation | 19 Jul 202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226796" y="2000408"/>
            <a:ext cx="2837167" cy="246489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The Growth Of Startup Ecosystem In India| Hyderabad Angel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563" y="4188932"/>
            <a:ext cx="3138145" cy="2353609"/>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Main Types Of Funding For Startups And Their Difference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036907" y="48497"/>
            <a:ext cx="3079810" cy="1406610"/>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Why non-traditional methods of funding are more popular than ever |  Startups Magazin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563" y="1721902"/>
            <a:ext cx="3134242" cy="2075740"/>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descr="5 Strategies For Startups to Acquire Funding and Thrive in the Competitive  Market"/>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226796" y="4948040"/>
            <a:ext cx="2889921" cy="16225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56000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3369" y="2304305"/>
            <a:ext cx="8534400" cy="1507067"/>
          </a:xfrm>
        </p:spPr>
        <p:txBody>
          <a:bodyPr/>
          <a:lstStyle/>
          <a:p>
            <a:pPr algn="ctr"/>
            <a:r>
              <a:rPr lang="en-US" b="1" dirty="0"/>
              <a:t>Thank you for your attention</a:t>
            </a:r>
            <a:endParaRPr lang="en-IN" b="1" dirty="0"/>
          </a:p>
        </p:txBody>
      </p:sp>
    </p:spTree>
    <p:extLst>
      <p:ext uri="{BB962C8B-B14F-4D97-AF65-F5344CB8AC3E}">
        <p14:creationId xmlns:p14="http://schemas.microsoft.com/office/powerpoint/2010/main" val="4153029456"/>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2977</TotalTime>
  <Words>2052</Words>
  <Application>Microsoft Office PowerPoint</Application>
  <PresentationFormat>Widescreen</PresentationFormat>
  <Paragraphs>85</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Century Gothic</vt:lpstr>
      <vt:lpstr>Times New Roman</vt:lpstr>
      <vt:lpstr>Wingdings</vt:lpstr>
      <vt:lpstr>Wingdings 3</vt:lpstr>
      <vt:lpstr>Slice</vt:lpstr>
      <vt:lpstr>Analysis of VC Funding</vt:lpstr>
      <vt:lpstr>Venture Capital</vt:lpstr>
      <vt:lpstr>Significance of the project</vt:lpstr>
      <vt:lpstr>Distribution by Funding Round </vt:lpstr>
      <vt:lpstr>Sector Analysis of Venture Capital Funding</vt:lpstr>
      <vt:lpstr>PowerPoint Presentation</vt:lpstr>
      <vt:lpstr>PowerPoint Presentation</vt:lpstr>
      <vt:lpstr>PowerPoint Presentation</vt:lpstr>
      <vt:lpstr>Text vectorization is the process of converting textual data (words, phrases, or sentences) into numerical representations (vectors) that can be understood and processed by machine learning models. Bag of Words turns sentences into fixed-length vectors where each dimension corresponds to a unique word in the corpus, and values represent the frequency of that word. </vt:lpstr>
      <vt:lpstr>PowerPoint Presentation</vt:lpstr>
      <vt:lpstr>PowerPoint Presentation</vt:lpstr>
      <vt:lpstr>Conclusions</vt:lpstr>
      <vt:lpstr>Thank you for your attention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Analysis of VC Funding</dc:title>
  <dc:creator>SHOUHAM. B.BANERJEE</dc:creator>
  <cp:lastModifiedBy>Shouham Banerjee</cp:lastModifiedBy>
  <cp:revision>37</cp:revision>
  <dcterms:created xsi:type="dcterms:W3CDTF">2024-11-26T18:45:57Z</dcterms:created>
  <dcterms:modified xsi:type="dcterms:W3CDTF">2026-02-27T17:44:07Z</dcterms:modified>
</cp:coreProperties>
</file>